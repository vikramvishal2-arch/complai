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Compliance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59669"/>
              </a:solidFill>
              <a:effectLst/>
            </c:spPr>
          </c:dPt>
          <c:dPt>
            <c:idx val="1"/>
            <c:bubble3D val="0"/>
            <c:spPr>
              <a:solidFill>
                <a:srgbClr val="D97706"/>
              </a:solidFill>
              <a:effectLst/>
            </c:spPr>
          </c:dPt>
          <c:dPt>
            <c:idx val="2"/>
            <c:bubble3D val="0"/>
            <c:spPr>
              <a:solidFill>
                <a:srgbClr val="DC2626"/>
              </a:solidFill>
              <a:effectLst/>
            </c:spPr>
          </c:dPt>
          <c:dPt>
            <c:idx val="3"/>
            <c:bubble3D val="0"/>
            <c:spPr>
              <a:solidFill>
                <a:srgbClr val="A1A1AA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7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7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7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7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Compliant</c:v>
                </c:pt>
                <c:pt idx="1">
                  <c:v>Partial</c:v>
                </c:pt>
                <c:pt idx="2">
                  <c:v>Gap</c:v>
                </c:pt>
                <c:pt idx="3">
                  <c:v>Non-compliant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62</c:v>
                </c:pt>
                <c:pt idx="1">
                  <c:v>24</c:v>
                </c:pt>
                <c:pt idx="2">
                  <c:v>9</c:v>
                </c:pt>
                <c:pt idx="3">
                  <c:v>5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6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value proposition. Mention Propel Ready as delivery partner. Preview the five themes you will cover.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Emphasize the board question. Use before/after visual to set up ComplAI.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Partnership infographic shows delivery model. Quadrant reinforces speed, coverage, automation, AI.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Hub-spoke shows unified architecture. All modules share one data model.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Donut shows sample readiness. Demo: Controls and Policies modules.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Gauge + funnel show TPRM pipeline. Demo: vendor portfolio and questionnaire results.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Category nodes show integration breadth. Demo: Intelligence gap analysis and copilot.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Dashboard mock for CISO/CIO audience. Transition to live demo on Leadership view.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Closing slide. Offer contact card. Transition to live demo.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/ppt/charts/chart1.xml"/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4" Type="http://schemas.openxmlformats.org/officeDocument/2006/relationships/image" Target="../media/image-5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4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10B9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" y="91440"/>
            <a:ext cx="1691640" cy="237744"/>
          </a:xfrm>
          <a:prstGeom prst="roundRect">
            <a:avLst>
              <a:gd name="adj" fmla="val 38462"/>
            </a:avLst>
          </a:prstGeom>
          <a:solidFill>
            <a:srgbClr val="10B9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13232" y="91440"/>
            <a:ext cx="1691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8275320" y="91440"/>
            <a:ext cx="457200" cy="237744"/>
          </a:xfrm>
          <a:prstGeom prst="roundRect">
            <a:avLst>
              <a:gd name="adj" fmla="val 38462"/>
            </a:avLst>
          </a:prstGeom>
          <a:solidFill>
            <a:srgbClr val="064E3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75320" y="91440"/>
            <a:ext cx="457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4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91440"/>
            <a:ext cx="237744" cy="237744"/>
          </a:xfrm>
          <a:prstGeom prst="rect">
            <a:avLst/>
          </a:prstGeom>
        </p:spPr>
      </p:pic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91440"/>
            <a:ext cx="1874520" cy="438912"/>
          </a:xfrm>
          <a:prstGeom prst="rect">
            <a:avLst/>
          </a:prstGeom>
        </p:spPr>
      </p:pic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502920"/>
            <a:ext cx="2834640" cy="67665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502920" y="12344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Governance - Risk - Compliance</a:t>
            </a:r>
            <a:endParaRPr lang="en-US" sz="900" dirty="0"/>
          </a:p>
        </p:txBody>
      </p:sp>
      <p:sp>
        <p:nvSpPr>
          <p:cNvPr id="11" name="Text 6"/>
          <p:cNvSpPr/>
          <p:nvPr/>
        </p:nvSpPr>
        <p:spPr>
          <a:xfrm>
            <a:off x="502920" y="1600200"/>
            <a:ext cx="5029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ComplAI</a:t>
            </a:r>
            <a:endParaRPr lang="en-US" sz="4400" dirty="0"/>
          </a:p>
        </p:txBody>
      </p:sp>
      <p:sp>
        <p:nvSpPr>
          <p:cNvPr id="12" name="Text 7"/>
          <p:cNvSpPr/>
          <p:nvPr/>
        </p:nvSpPr>
        <p:spPr>
          <a:xfrm>
            <a:off x="502920" y="242316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4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Ensure Compliance. Accelerate Growth.</a:t>
            </a:r>
            <a:endParaRPr lang="en-US" sz="2000" dirty="0"/>
          </a:p>
        </p:txBody>
      </p:sp>
      <p:sp>
        <p:nvSpPr>
          <p:cNvPr id="13" name="Text 8"/>
          <p:cNvSpPr/>
          <p:nvPr/>
        </p:nvSpPr>
        <p:spPr>
          <a:xfrm>
            <a:off x="502920" y="2971800"/>
            <a:ext cx="4754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unified GRC platform - 10-minute overview, then live demo: platform, compliance, risk, TPRM, and leadership dashboards.</a:t>
            </a:r>
            <a:endParaRPr lang="en-US" sz="1100" dirty="0"/>
          </a:p>
        </p:txBody>
      </p:sp>
      <p:sp>
        <p:nvSpPr>
          <p:cNvPr id="14" name="Shape 9"/>
          <p:cNvSpPr/>
          <p:nvPr/>
        </p:nvSpPr>
        <p:spPr>
          <a:xfrm>
            <a:off x="502920" y="3977640"/>
            <a:ext cx="2057400" cy="292608"/>
          </a:xfrm>
          <a:prstGeom prst="roundRect">
            <a:avLst>
              <a:gd name="adj" fmla="val 46875"/>
            </a:avLst>
          </a:prstGeom>
          <a:solidFill>
            <a:srgbClr val="064E3B"/>
          </a:solidFill>
          <a:ln w="9525">
            <a:solidFill>
              <a:srgbClr val="10B981"/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502920" y="3977640"/>
            <a:ext cx="2057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 frameworks</a:t>
            </a:r>
            <a:endParaRPr lang="en-US" sz="800" dirty="0"/>
          </a:p>
        </p:txBody>
      </p:sp>
      <p:sp>
        <p:nvSpPr>
          <p:cNvPr id="16" name="Shape 11"/>
          <p:cNvSpPr/>
          <p:nvPr/>
        </p:nvSpPr>
        <p:spPr>
          <a:xfrm>
            <a:off x="2697480" y="3977640"/>
            <a:ext cx="2057400" cy="292608"/>
          </a:xfrm>
          <a:prstGeom prst="roundRect">
            <a:avLst>
              <a:gd name="adj" fmla="val 46875"/>
            </a:avLst>
          </a:prstGeom>
          <a:solidFill>
            <a:srgbClr val="064E3B"/>
          </a:solidFill>
          <a:ln w="9525">
            <a:solidFill>
              <a:srgbClr val="10B981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2697480" y="3977640"/>
            <a:ext cx="2057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100+ ISMS templates</a:t>
            </a:r>
            <a:endParaRPr lang="en-US" sz="800" dirty="0"/>
          </a:p>
        </p:txBody>
      </p:sp>
      <p:sp>
        <p:nvSpPr>
          <p:cNvPr id="18" name="Shape 13"/>
          <p:cNvSpPr/>
          <p:nvPr/>
        </p:nvSpPr>
        <p:spPr>
          <a:xfrm>
            <a:off x="502920" y="4361688"/>
            <a:ext cx="2057400" cy="292608"/>
          </a:xfrm>
          <a:prstGeom prst="roundRect">
            <a:avLst>
              <a:gd name="adj" fmla="val 46875"/>
            </a:avLst>
          </a:prstGeom>
          <a:solidFill>
            <a:srgbClr val="064E3B"/>
          </a:solidFill>
          <a:ln w="9525">
            <a:solidFill>
              <a:srgbClr val="10B981"/>
            </a:solidFill>
            <a:prstDash val="solid"/>
          </a:ln>
        </p:spPr>
      </p:sp>
      <p:sp>
        <p:nvSpPr>
          <p:cNvPr id="19" name="Text 14"/>
          <p:cNvSpPr/>
          <p:nvPr/>
        </p:nvSpPr>
        <p:spPr>
          <a:xfrm>
            <a:off x="502920" y="4361688"/>
            <a:ext cx="2057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87 integrations</a:t>
            </a:r>
            <a:endParaRPr lang="en-US" sz="800" dirty="0"/>
          </a:p>
        </p:txBody>
      </p:sp>
      <p:sp>
        <p:nvSpPr>
          <p:cNvPr id="20" name="Shape 15"/>
          <p:cNvSpPr/>
          <p:nvPr/>
        </p:nvSpPr>
        <p:spPr>
          <a:xfrm>
            <a:off x="2697480" y="4361688"/>
            <a:ext cx="2057400" cy="292608"/>
          </a:xfrm>
          <a:prstGeom prst="roundRect">
            <a:avLst>
              <a:gd name="adj" fmla="val 46875"/>
            </a:avLst>
          </a:prstGeom>
          <a:solidFill>
            <a:srgbClr val="064E3B"/>
          </a:solidFill>
          <a:ln w="9525">
            <a:solidFill>
              <a:srgbClr val="10B981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2697480" y="4361688"/>
            <a:ext cx="2057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intelligence</a:t>
            </a:r>
            <a:endParaRPr lang="en-US" sz="800" dirty="0"/>
          </a:p>
        </p:txBody>
      </p:sp>
      <p:sp>
        <p:nvSpPr>
          <p:cNvPr id="22" name="Shape 17"/>
          <p:cNvSpPr/>
          <p:nvPr/>
        </p:nvSpPr>
        <p:spPr>
          <a:xfrm>
            <a:off x="5559552" y="1170432"/>
            <a:ext cx="768096" cy="768096"/>
          </a:xfrm>
          <a:prstGeom prst="ellipse">
            <a:avLst/>
          </a:prstGeom>
          <a:solidFill>
            <a:srgbClr val="3F3F46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5632704" y="1243584"/>
            <a:ext cx="621792" cy="6217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5559552" y="1444752"/>
            <a:ext cx="7680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1100" dirty="0"/>
          </a:p>
        </p:txBody>
      </p:sp>
      <p:sp>
        <p:nvSpPr>
          <p:cNvPr id="25" name="Text 20"/>
          <p:cNvSpPr/>
          <p:nvPr/>
        </p:nvSpPr>
        <p:spPr>
          <a:xfrm>
            <a:off x="5559552" y="1664208"/>
            <a:ext cx="76809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Frameworks</a:t>
            </a:r>
            <a:endParaRPr lang="en-US" sz="600" dirty="0"/>
          </a:p>
        </p:txBody>
      </p:sp>
      <p:sp>
        <p:nvSpPr>
          <p:cNvPr id="26" name="Shape 21"/>
          <p:cNvSpPr/>
          <p:nvPr/>
        </p:nvSpPr>
        <p:spPr>
          <a:xfrm>
            <a:off x="5559552" y="1883664"/>
            <a:ext cx="768096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7434072" y="1170432"/>
            <a:ext cx="768096" cy="768096"/>
          </a:xfrm>
          <a:prstGeom prst="ellipse">
            <a:avLst/>
          </a:prstGeom>
          <a:solidFill>
            <a:srgbClr val="3F3F46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7507224" y="1243584"/>
            <a:ext cx="621792" cy="6217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Text 24"/>
          <p:cNvSpPr/>
          <p:nvPr/>
        </p:nvSpPr>
        <p:spPr>
          <a:xfrm>
            <a:off x="7434072" y="1444752"/>
            <a:ext cx="7680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100+</a:t>
            </a:r>
            <a:endParaRPr lang="en-US" sz="1100" dirty="0"/>
          </a:p>
        </p:txBody>
      </p:sp>
      <p:sp>
        <p:nvSpPr>
          <p:cNvPr id="30" name="Text 25"/>
          <p:cNvSpPr/>
          <p:nvPr/>
        </p:nvSpPr>
        <p:spPr>
          <a:xfrm>
            <a:off x="7434072" y="1664208"/>
            <a:ext cx="76809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Templates</a:t>
            </a:r>
            <a:endParaRPr lang="en-US" sz="600" dirty="0"/>
          </a:p>
        </p:txBody>
      </p:sp>
      <p:sp>
        <p:nvSpPr>
          <p:cNvPr id="31" name="Shape 26"/>
          <p:cNvSpPr/>
          <p:nvPr/>
        </p:nvSpPr>
        <p:spPr>
          <a:xfrm>
            <a:off x="7434072" y="1883664"/>
            <a:ext cx="729691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Shape 27"/>
          <p:cNvSpPr/>
          <p:nvPr/>
        </p:nvSpPr>
        <p:spPr>
          <a:xfrm>
            <a:off x="5559552" y="2496312"/>
            <a:ext cx="768096" cy="768096"/>
          </a:xfrm>
          <a:prstGeom prst="ellipse">
            <a:avLst/>
          </a:prstGeom>
          <a:solidFill>
            <a:srgbClr val="3F3F46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33" name="Shape 28"/>
          <p:cNvSpPr/>
          <p:nvPr/>
        </p:nvSpPr>
        <p:spPr>
          <a:xfrm>
            <a:off x="5632704" y="2569464"/>
            <a:ext cx="621792" cy="6217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4" name="Text 29"/>
          <p:cNvSpPr/>
          <p:nvPr/>
        </p:nvSpPr>
        <p:spPr>
          <a:xfrm>
            <a:off x="5559552" y="2770632"/>
            <a:ext cx="7680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87</a:t>
            </a:r>
            <a:endParaRPr lang="en-US" sz="1100" dirty="0"/>
          </a:p>
        </p:txBody>
      </p:sp>
      <p:sp>
        <p:nvSpPr>
          <p:cNvPr id="35" name="Text 30"/>
          <p:cNvSpPr/>
          <p:nvPr/>
        </p:nvSpPr>
        <p:spPr>
          <a:xfrm>
            <a:off x="5559552" y="2990088"/>
            <a:ext cx="76809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Integrations</a:t>
            </a:r>
            <a:endParaRPr lang="en-US" sz="600" dirty="0"/>
          </a:p>
        </p:txBody>
      </p:sp>
      <p:sp>
        <p:nvSpPr>
          <p:cNvPr id="36" name="Shape 31"/>
          <p:cNvSpPr/>
          <p:nvPr/>
        </p:nvSpPr>
        <p:spPr>
          <a:xfrm>
            <a:off x="5559552" y="3209544"/>
            <a:ext cx="668244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7" name="Shape 32"/>
          <p:cNvSpPr/>
          <p:nvPr/>
        </p:nvSpPr>
        <p:spPr>
          <a:xfrm>
            <a:off x="7434072" y="2496312"/>
            <a:ext cx="768096" cy="768096"/>
          </a:xfrm>
          <a:prstGeom prst="ellipse">
            <a:avLst/>
          </a:prstGeom>
          <a:solidFill>
            <a:srgbClr val="3F3F46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38" name="Shape 33"/>
          <p:cNvSpPr/>
          <p:nvPr/>
        </p:nvSpPr>
        <p:spPr>
          <a:xfrm>
            <a:off x="7507224" y="2569464"/>
            <a:ext cx="621792" cy="6217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9" name="Text 34"/>
          <p:cNvSpPr/>
          <p:nvPr/>
        </p:nvSpPr>
        <p:spPr>
          <a:xfrm>
            <a:off x="7434072" y="2770632"/>
            <a:ext cx="7680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</a:t>
            </a:r>
            <a:endParaRPr lang="en-US" sz="1100" dirty="0"/>
          </a:p>
        </p:txBody>
      </p:sp>
      <p:sp>
        <p:nvSpPr>
          <p:cNvPr id="40" name="Text 35"/>
          <p:cNvSpPr/>
          <p:nvPr/>
        </p:nvSpPr>
        <p:spPr>
          <a:xfrm>
            <a:off x="7434072" y="2990088"/>
            <a:ext cx="76809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Intelligence</a:t>
            </a:r>
            <a:endParaRPr lang="en-US" sz="600" dirty="0"/>
          </a:p>
        </p:txBody>
      </p:sp>
      <p:sp>
        <p:nvSpPr>
          <p:cNvPr id="41" name="Shape 36"/>
          <p:cNvSpPr/>
          <p:nvPr/>
        </p:nvSpPr>
        <p:spPr>
          <a:xfrm>
            <a:off x="7434072" y="3209544"/>
            <a:ext cx="768096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2" name="Text 37"/>
          <p:cNvSpPr/>
          <p:nvPr/>
        </p:nvSpPr>
        <p:spPr>
          <a:xfrm>
            <a:off x="365760" y="47091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1 of 9 - ComplAI</a:t>
            </a:r>
            <a:endParaRPr lang="en-US" sz="800" dirty="0"/>
          </a:p>
        </p:txBody>
      </p:sp>
      <p:pic>
        <p:nvPicPr>
          <p:cNvPr id="4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98130" y="4663440"/>
            <a:ext cx="377190" cy="274320"/>
          </a:xfrm>
          <a:prstGeom prst="rect">
            <a:avLst/>
          </a:prstGeom>
        </p:spPr>
      </p:pic>
      <p:sp>
        <p:nvSpPr>
          <p:cNvPr id="44" name="Text 38"/>
          <p:cNvSpPr/>
          <p:nvPr/>
        </p:nvSpPr>
        <p:spPr>
          <a:xfrm>
            <a:off x="6537960" y="470916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i="1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214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" y="91440"/>
            <a:ext cx="1691640" cy="237744"/>
          </a:xfrm>
          <a:prstGeom prst="roundRect">
            <a:avLst>
              <a:gd name="adj" fmla="val 38462"/>
            </a:avLst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13232" y="91440"/>
            <a:ext cx="1691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Challenge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8275320" y="91440"/>
            <a:ext cx="457200" cy="237744"/>
          </a:xfrm>
          <a:prstGeom prst="roundRect">
            <a:avLst>
              <a:gd name="adj" fmla="val 38462"/>
            </a:avLst>
          </a:prstGeom>
          <a:solidFill>
            <a:srgbClr val="064E3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75320" y="91440"/>
            <a:ext cx="457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4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91440"/>
            <a:ext cx="237744" cy="237744"/>
          </a:xfrm>
          <a:prstGeom prst="rect">
            <a:avLst/>
          </a:prstGeom>
        </p:spPr>
      </p:pic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91440"/>
            <a:ext cx="1874520" cy="43891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11480" y="1234440"/>
            <a:ext cx="7132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4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challenge - GRC is broken across too many tools</a:t>
            </a:r>
            <a:endParaRPr lang="en-US" sz="2200" dirty="0"/>
          </a:p>
        </p:txBody>
      </p:sp>
      <p:sp>
        <p:nvSpPr>
          <p:cNvPr id="10" name="Shape 6"/>
          <p:cNvSpPr/>
          <p:nvPr/>
        </p:nvSpPr>
        <p:spPr>
          <a:xfrm>
            <a:off x="411480" y="1801368"/>
            <a:ext cx="1005840" cy="45720"/>
          </a:xfrm>
          <a:prstGeom prst="rect">
            <a:avLst/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411480" y="1892808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Teams lose visibility, time, and audit confidence when data lives in silos.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411480" y="2240280"/>
            <a:ext cx="3931920" cy="621792"/>
          </a:xfrm>
          <a:prstGeom prst="roundRect">
            <a:avLst>
              <a:gd name="adj" fmla="val 8824"/>
            </a:avLst>
          </a:prstGeom>
          <a:solidFill>
            <a:srgbClr val="12141C"/>
          </a:solidFill>
          <a:ln w="12700">
            <a:solidFill>
              <a:srgbClr val="064E3B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548640" y="2331720"/>
            <a:ext cx="822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5+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1417320" y="2350008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4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disconnected tools per org</a:t>
            </a:r>
            <a:endParaRPr lang="en-US" sz="800" dirty="0"/>
          </a:p>
        </p:txBody>
      </p:sp>
      <p:sp>
        <p:nvSpPr>
          <p:cNvPr id="15" name="Shape 11"/>
          <p:cNvSpPr/>
          <p:nvPr/>
        </p:nvSpPr>
        <p:spPr>
          <a:xfrm>
            <a:off x="411480" y="2935224"/>
            <a:ext cx="3931920" cy="621792"/>
          </a:xfrm>
          <a:prstGeom prst="roundRect">
            <a:avLst>
              <a:gd name="adj" fmla="val 8824"/>
            </a:avLst>
          </a:prstGeom>
          <a:solidFill>
            <a:srgbClr val="12141C"/>
          </a:solidFill>
          <a:ln w="12700">
            <a:solidFill>
              <a:srgbClr val="064E3B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548640" y="3026664"/>
            <a:ext cx="822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40h+</a:t>
            </a:r>
            <a:endParaRPr lang="en-US" sz="1800" dirty="0"/>
          </a:p>
        </p:txBody>
      </p:sp>
      <p:sp>
        <p:nvSpPr>
          <p:cNvPr id="17" name="Text 13"/>
          <p:cNvSpPr/>
          <p:nvPr/>
        </p:nvSpPr>
        <p:spPr>
          <a:xfrm>
            <a:off x="1417320" y="3044952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4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lost per audit cycle</a:t>
            </a:r>
            <a:endParaRPr lang="en-US" sz="800" dirty="0"/>
          </a:p>
        </p:txBody>
      </p:sp>
      <p:sp>
        <p:nvSpPr>
          <p:cNvPr id="18" name="Shape 14"/>
          <p:cNvSpPr/>
          <p:nvPr/>
        </p:nvSpPr>
        <p:spPr>
          <a:xfrm>
            <a:off x="411480" y="3630168"/>
            <a:ext cx="3931920" cy="621792"/>
          </a:xfrm>
          <a:prstGeom prst="roundRect">
            <a:avLst>
              <a:gd name="adj" fmla="val 8824"/>
            </a:avLst>
          </a:prstGeom>
          <a:solidFill>
            <a:srgbClr val="12141C"/>
          </a:solidFill>
          <a:ln w="12700">
            <a:solidFill>
              <a:srgbClr val="064E3B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548640" y="3721608"/>
            <a:ext cx="822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1800" dirty="0"/>
          </a:p>
        </p:txBody>
      </p:sp>
      <p:sp>
        <p:nvSpPr>
          <p:cNvPr id="20" name="Text 16"/>
          <p:cNvSpPr/>
          <p:nvPr/>
        </p:nvSpPr>
        <p:spPr>
          <a:xfrm>
            <a:off x="1417320" y="3739896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4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“Are we green?” - often no real-time answer</a:t>
            </a:r>
            <a:endParaRPr lang="en-US" sz="800" dirty="0"/>
          </a:p>
        </p:txBody>
      </p:sp>
      <p:sp>
        <p:nvSpPr>
          <p:cNvPr id="21" name="Text 17"/>
          <p:cNvSpPr/>
          <p:nvPr/>
        </p:nvSpPr>
        <p:spPr>
          <a:xfrm>
            <a:off x="411480" y="4370832"/>
            <a:ext cx="3931920" cy="182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F4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Duplicate controls across SOC 2, ISO 27001, and regional frameworks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F4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Risks and vendor due diligence disconnected from controls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F4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Policy approvals trapped in email with no audit trail</a:t>
            </a:r>
            <a:endParaRPr lang="en-US" sz="850" dirty="0"/>
          </a:p>
        </p:txBody>
      </p:sp>
      <p:sp>
        <p:nvSpPr>
          <p:cNvPr id="22" name="Shape 18"/>
          <p:cNvSpPr/>
          <p:nvPr/>
        </p:nvSpPr>
        <p:spPr>
          <a:xfrm>
            <a:off x="4590288" y="1965960"/>
            <a:ext cx="1003554" cy="256032"/>
          </a:xfrm>
          <a:prstGeom prst="roundRect">
            <a:avLst>
              <a:gd name="adj" fmla="val 17857"/>
            </a:avLst>
          </a:prstGeom>
          <a:solidFill>
            <a:srgbClr val="FEF2F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4590288" y="1965960"/>
            <a:ext cx="100355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Spreadsheets</a:t>
            </a:r>
            <a:endParaRPr lang="en-US" sz="650" dirty="0"/>
          </a:p>
        </p:txBody>
      </p:sp>
      <p:sp>
        <p:nvSpPr>
          <p:cNvPr id="24" name="Shape 20"/>
          <p:cNvSpPr/>
          <p:nvPr/>
        </p:nvSpPr>
        <p:spPr>
          <a:xfrm>
            <a:off x="5630418" y="1965960"/>
            <a:ext cx="1003554" cy="256032"/>
          </a:xfrm>
          <a:prstGeom prst="roundRect">
            <a:avLst>
              <a:gd name="adj" fmla="val 17857"/>
            </a:avLst>
          </a:prstGeom>
          <a:solidFill>
            <a:srgbClr val="FEF2F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5630418" y="1965960"/>
            <a:ext cx="100355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</a:t>
            </a:r>
            <a:endParaRPr lang="en-US" sz="650" dirty="0"/>
          </a:p>
        </p:txBody>
      </p:sp>
      <p:sp>
        <p:nvSpPr>
          <p:cNvPr id="26" name="Shape 22"/>
          <p:cNvSpPr/>
          <p:nvPr/>
        </p:nvSpPr>
        <p:spPr>
          <a:xfrm>
            <a:off x="6670548" y="1965960"/>
            <a:ext cx="1003554" cy="256032"/>
          </a:xfrm>
          <a:prstGeom prst="roundRect">
            <a:avLst>
              <a:gd name="adj" fmla="val 17857"/>
            </a:avLst>
          </a:prstGeom>
          <a:solidFill>
            <a:srgbClr val="FEF2F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6670548" y="1965960"/>
            <a:ext cx="100355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Silos</a:t>
            </a:r>
            <a:endParaRPr lang="en-US" sz="650" dirty="0"/>
          </a:p>
        </p:txBody>
      </p:sp>
      <p:sp>
        <p:nvSpPr>
          <p:cNvPr id="28" name="Shape 24"/>
          <p:cNvSpPr/>
          <p:nvPr/>
        </p:nvSpPr>
        <p:spPr>
          <a:xfrm>
            <a:off x="7710678" y="1965960"/>
            <a:ext cx="1003554" cy="256032"/>
          </a:xfrm>
          <a:prstGeom prst="roundRect">
            <a:avLst>
              <a:gd name="adj" fmla="val 17857"/>
            </a:avLst>
          </a:prstGeom>
          <a:solidFill>
            <a:srgbClr val="FEF2F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7710678" y="1965960"/>
            <a:ext cx="100355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</a:t>
            </a:r>
            <a:endParaRPr lang="en-US" sz="650" dirty="0"/>
          </a:p>
        </p:txBody>
      </p:sp>
      <p:sp>
        <p:nvSpPr>
          <p:cNvPr id="30" name="Shape 26"/>
          <p:cNvSpPr/>
          <p:nvPr/>
        </p:nvSpPr>
        <p:spPr>
          <a:xfrm>
            <a:off x="4572000" y="2286000"/>
            <a:ext cx="1943100" cy="2194560"/>
          </a:xfrm>
          <a:prstGeom prst="roundRect">
            <a:avLst>
              <a:gd name="adj" fmla="val 3765"/>
            </a:avLst>
          </a:prstGeom>
          <a:solidFill>
            <a:srgbClr val="FEF2F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4663440" y="2359152"/>
            <a:ext cx="17602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Fragmented stack</a:t>
            </a:r>
            <a:endParaRPr lang="en-US" sz="900" dirty="0"/>
          </a:p>
        </p:txBody>
      </p:sp>
      <p:sp>
        <p:nvSpPr>
          <p:cNvPr id="32" name="Shape 28"/>
          <p:cNvSpPr/>
          <p:nvPr/>
        </p:nvSpPr>
        <p:spPr>
          <a:xfrm>
            <a:off x="4681728" y="2670048"/>
            <a:ext cx="91440" cy="9144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4828032" y="2633472"/>
            <a:ext cx="16230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F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Spreadsheets</a:t>
            </a:r>
            <a:endParaRPr lang="en-US" sz="750" dirty="0"/>
          </a:p>
        </p:txBody>
      </p:sp>
      <p:sp>
        <p:nvSpPr>
          <p:cNvPr id="34" name="Shape 30"/>
          <p:cNvSpPr/>
          <p:nvPr/>
        </p:nvSpPr>
        <p:spPr>
          <a:xfrm>
            <a:off x="4681728" y="2980944"/>
            <a:ext cx="91440" cy="9144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4828032" y="2944368"/>
            <a:ext cx="16230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F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 drives</a:t>
            </a:r>
            <a:endParaRPr lang="en-US" sz="750" dirty="0"/>
          </a:p>
        </p:txBody>
      </p:sp>
      <p:sp>
        <p:nvSpPr>
          <p:cNvPr id="36" name="Shape 32"/>
          <p:cNvSpPr/>
          <p:nvPr/>
        </p:nvSpPr>
        <p:spPr>
          <a:xfrm>
            <a:off x="4681728" y="3291840"/>
            <a:ext cx="91440" cy="9144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7" name="Text 33"/>
          <p:cNvSpPr/>
          <p:nvPr/>
        </p:nvSpPr>
        <p:spPr>
          <a:xfrm>
            <a:off x="4828032" y="3255264"/>
            <a:ext cx="16230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F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tool</a:t>
            </a:r>
            <a:endParaRPr lang="en-US" sz="750" dirty="0"/>
          </a:p>
        </p:txBody>
      </p:sp>
      <p:sp>
        <p:nvSpPr>
          <p:cNvPr id="38" name="Shape 34"/>
          <p:cNvSpPr/>
          <p:nvPr/>
        </p:nvSpPr>
        <p:spPr>
          <a:xfrm>
            <a:off x="4681728" y="3602736"/>
            <a:ext cx="91440" cy="9144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9" name="Text 35"/>
          <p:cNvSpPr/>
          <p:nvPr/>
        </p:nvSpPr>
        <p:spPr>
          <a:xfrm>
            <a:off x="4828032" y="3566160"/>
            <a:ext cx="16230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F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Ticketing</a:t>
            </a:r>
            <a:endParaRPr lang="en-US" sz="750" dirty="0"/>
          </a:p>
        </p:txBody>
      </p:sp>
      <p:sp>
        <p:nvSpPr>
          <p:cNvPr id="40" name="Shape 36"/>
          <p:cNvSpPr/>
          <p:nvPr/>
        </p:nvSpPr>
        <p:spPr>
          <a:xfrm>
            <a:off x="4681728" y="3913632"/>
            <a:ext cx="91440" cy="9144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1" name="Text 37"/>
          <p:cNvSpPr/>
          <p:nvPr/>
        </p:nvSpPr>
        <p:spPr>
          <a:xfrm>
            <a:off x="4828032" y="3877056"/>
            <a:ext cx="16230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F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</a:t>
            </a:r>
            <a:endParaRPr lang="en-US" sz="750" dirty="0"/>
          </a:p>
        </p:txBody>
      </p:sp>
      <p:sp>
        <p:nvSpPr>
          <p:cNvPr id="42" name="Shape 38"/>
          <p:cNvSpPr/>
          <p:nvPr/>
        </p:nvSpPr>
        <p:spPr>
          <a:xfrm>
            <a:off x="6560820" y="3291840"/>
            <a:ext cx="274320" cy="182880"/>
          </a:xfrm>
          <a:prstGeom prst="rightArrow">
            <a:avLst/>
          </a:prstGeom>
          <a:solidFill>
            <a:srgbClr val="10B9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3" name="Shape 39"/>
          <p:cNvSpPr/>
          <p:nvPr/>
        </p:nvSpPr>
        <p:spPr>
          <a:xfrm>
            <a:off x="6880860" y="2286000"/>
            <a:ext cx="1943100" cy="2194560"/>
          </a:xfrm>
          <a:prstGeom prst="roundRect">
            <a:avLst>
              <a:gd name="adj" fmla="val 3765"/>
            </a:avLst>
          </a:prstGeom>
          <a:solidFill>
            <a:srgbClr val="D1FAE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4" name="Text 40"/>
          <p:cNvSpPr/>
          <p:nvPr/>
        </p:nvSpPr>
        <p:spPr>
          <a:xfrm>
            <a:off x="6972300" y="2359152"/>
            <a:ext cx="17602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ComplAI platform</a:t>
            </a:r>
            <a:endParaRPr lang="en-US" sz="900" dirty="0"/>
          </a:p>
        </p:txBody>
      </p:sp>
      <p:sp>
        <p:nvSpPr>
          <p:cNvPr id="45" name="Shape 41"/>
          <p:cNvSpPr/>
          <p:nvPr/>
        </p:nvSpPr>
        <p:spPr>
          <a:xfrm>
            <a:off x="6990588" y="2670048"/>
            <a:ext cx="91440" cy="914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6" name="Text 42"/>
          <p:cNvSpPr/>
          <p:nvPr/>
        </p:nvSpPr>
        <p:spPr>
          <a:xfrm>
            <a:off x="7136892" y="2633472"/>
            <a:ext cx="16230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F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Unified controls</a:t>
            </a:r>
            <a:endParaRPr lang="en-US" sz="750" dirty="0"/>
          </a:p>
        </p:txBody>
      </p:sp>
      <p:sp>
        <p:nvSpPr>
          <p:cNvPr id="47" name="Shape 43"/>
          <p:cNvSpPr/>
          <p:nvPr/>
        </p:nvSpPr>
        <p:spPr>
          <a:xfrm>
            <a:off x="6990588" y="2980944"/>
            <a:ext cx="91440" cy="914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8" name="Text 44"/>
          <p:cNvSpPr/>
          <p:nvPr/>
        </p:nvSpPr>
        <p:spPr>
          <a:xfrm>
            <a:off x="7136892" y="2944368"/>
            <a:ext cx="16230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F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evidence</a:t>
            </a:r>
            <a:endParaRPr lang="en-US" sz="750" dirty="0"/>
          </a:p>
        </p:txBody>
      </p:sp>
      <p:sp>
        <p:nvSpPr>
          <p:cNvPr id="49" name="Shape 45"/>
          <p:cNvSpPr/>
          <p:nvPr/>
        </p:nvSpPr>
        <p:spPr>
          <a:xfrm>
            <a:off x="6990588" y="3291840"/>
            <a:ext cx="91440" cy="914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0" name="Text 46"/>
          <p:cNvSpPr/>
          <p:nvPr/>
        </p:nvSpPr>
        <p:spPr>
          <a:xfrm>
            <a:off x="7136892" y="3255264"/>
            <a:ext cx="16230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F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dashboards</a:t>
            </a:r>
            <a:endParaRPr lang="en-US" sz="750" dirty="0"/>
          </a:p>
        </p:txBody>
      </p:sp>
      <p:sp>
        <p:nvSpPr>
          <p:cNvPr id="51" name="Shape 47"/>
          <p:cNvSpPr/>
          <p:nvPr/>
        </p:nvSpPr>
        <p:spPr>
          <a:xfrm>
            <a:off x="6990588" y="3602736"/>
            <a:ext cx="91440" cy="914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2" name="Text 48"/>
          <p:cNvSpPr/>
          <p:nvPr/>
        </p:nvSpPr>
        <p:spPr>
          <a:xfrm>
            <a:off x="7136892" y="3566160"/>
            <a:ext cx="16230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F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TPRM + audits</a:t>
            </a:r>
            <a:endParaRPr lang="en-US" sz="750" dirty="0"/>
          </a:p>
        </p:txBody>
      </p:sp>
      <p:sp>
        <p:nvSpPr>
          <p:cNvPr id="53" name="Shape 49"/>
          <p:cNvSpPr/>
          <p:nvPr/>
        </p:nvSpPr>
        <p:spPr>
          <a:xfrm>
            <a:off x="6990588" y="3913632"/>
            <a:ext cx="91440" cy="914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4" name="Text 50"/>
          <p:cNvSpPr/>
          <p:nvPr/>
        </p:nvSpPr>
        <p:spPr>
          <a:xfrm>
            <a:off x="7136892" y="3877056"/>
            <a:ext cx="16230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F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gaps</a:t>
            </a:r>
            <a:endParaRPr lang="en-US" sz="750" dirty="0"/>
          </a:p>
        </p:txBody>
      </p:sp>
      <p:sp>
        <p:nvSpPr>
          <p:cNvPr id="55" name="Text 51"/>
          <p:cNvSpPr/>
          <p:nvPr/>
        </p:nvSpPr>
        <p:spPr>
          <a:xfrm>
            <a:off x="365760" y="47091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2 of 9</a:t>
            </a:r>
            <a:endParaRPr lang="en-US" sz="800" dirty="0"/>
          </a:p>
        </p:txBody>
      </p:sp>
      <p:pic>
        <p:nvPicPr>
          <p:cNvPr id="5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98130" y="4663440"/>
            <a:ext cx="377190" cy="274320"/>
          </a:xfrm>
          <a:prstGeom prst="rect">
            <a:avLst/>
          </a:prstGeom>
        </p:spPr>
      </p:pic>
      <p:sp>
        <p:nvSpPr>
          <p:cNvPr id="57" name="Text 52"/>
          <p:cNvSpPr/>
          <p:nvPr/>
        </p:nvSpPr>
        <p:spPr>
          <a:xfrm>
            <a:off x="6537960" y="470916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i="1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214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10B9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" y="91440"/>
            <a:ext cx="1691640" cy="237744"/>
          </a:xfrm>
          <a:prstGeom prst="roundRect">
            <a:avLst>
              <a:gd name="adj" fmla="val 38462"/>
            </a:avLst>
          </a:prstGeom>
          <a:solidFill>
            <a:srgbClr val="10B9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13232" y="91440"/>
            <a:ext cx="1691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ComplAI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8275320" y="91440"/>
            <a:ext cx="457200" cy="237744"/>
          </a:xfrm>
          <a:prstGeom prst="roundRect">
            <a:avLst>
              <a:gd name="adj" fmla="val 38462"/>
            </a:avLst>
          </a:prstGeom>
          <a:solidFill>
            <a:srgbClr val="064E3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75320" y="91440"/>
            <a:ext cx="457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4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91440"/>
            <a:ext cx="237744" cy="237744"/>
          </a:xfrm>
          <a:prstGeom prst="rect">
            <a:avLst/>
          </a:prstGeom>
        </p:spPr>
      </p:pic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91440"/>
            <a:ext cx="1874520" cy="43891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11480" y="1234440"/>
            <a:ext cx="7132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4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ComplAI - with Propel Ready Solutions</a:t>
            </a:r>
            <a:endParaRPr lang="en-US" sz="2200" dirty="0"/>
          </a:p>
        </p:txBody>
      </p:sp>
      <p:sp>
        <p:nvSpPr>
          <p:cNvPr id="10" name="Shape 6"/>
          <p:cNvSpPr/>
          <p:nvPr/>
        </p:nvSpPr>
        <p:spPr>
          <a:xfrm>
            <a:off x="411480" y="1801368"/>
            <a:ext cx="1005840" cy="45720"/>
          </a:xfrm>
          <a:prstGeom prst="rect">
            <a:avLst/>
          </a:prstGeom>
          <a:solidFill>
            <a:srgbClr val="10B9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411480" y="1892808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Expert-backed GRC platform built for security teams, not spreadsheet warriors.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411480" y="2240280"/>
            <a:ext cx="4069080" cy="868680"/>
          </a:xfrm>
          <a:prstGeom prst="roundRect">
            <a:avLst>
              <a:gd name="adj" fmla="val 8421"/>
            </a:avLst>
          </a:prstGeom>
          <a:solidFill>
            <a:srgbClr val="12141C"/>
          </a:solidFill>
          <a:ln w="12700">
            <a:solidFill>
              <a:srgbClr val="064E3B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521208" y="2331720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100+ ISMS templates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521208" y="2587752"/>
            <a:ext cx="3886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Auditor-aligned policies - start ready, not from blank.</a:t>
            </a:r>
            <a:endParaRPr lang="en-US" sz="850" dirty="0"/>
          </a:p>
        </p:txBody>
      </p:sp>
      <p:sp>
        <p:nvSpPr>
          <p:cNvPr id="15" name="Shape 11"/>
          <p:cNvSpPr/>
          <p:nvPr/>
        </p:nvSpPr>
        <p:spPr>
          <a:xfrm>
            <a:off x="4663440" y="2240280"/>
            <a:ext cx="4069080" cy="868680"/>
          </a:xfrm>
          <a:prstGeom prst="roundRect">
            <a:avLst>
              <a:gd name="adj" fmla="val 8421"/>
            </a:avLst>
          </a:prstGeom>
          <a:solidFill>
            <a:srgbClr val="12141C"/>
          </a:solidFill>
          <a:ln w="12700">
            <a:solidFill>
              <a:srgbClr val="064E3B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4773168" y="2331720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control framework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4773168" y="2587752"/>
            <a:ext cx="3886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 once; reuse evidence across every standard.</a:t>
            </a:r>
            <a:endParaRPr lang="en-US" sz="850" dirty="0"/>
          </a:p>
        </p:txBody>
      </p:sp>
      <p:sp>
        <p:nvSpPr>
          <p:cNvPr id="18" name="Shape 14"/>
          <p:cNvSpPr/>
          <p:nvPr/>
        </p:nvSpPr>
        <p:spPr>
          <a:xfrm>
            <a:off x="411480" y="3200400"/>
            <a:ext cx="4069080" cy="868680"/>
          </a:xfrm>
          <a:prstGeom prst="roundRect">
            <a:avLst>
              <a:gd name="adj" fmla="val 8421"/>
            </a:avLst>
          </a:prstGeom>
          <a:solidFill>
            <a:srgbClr val="12141C"/>
          </a:solidFill>
          <a:ln w="12700">
            <a:solidFill>
              <a:srgbClr val="064E3B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521208" y="3291840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Continuous readiness</a:t>
            </a:r>
            <a:endParaRPr lang="en-US" sz="1000" dirty="0"/>
          </a:p>
        </p:txBody>
      </p:sp>
      <p:sp>
        <p:nvSpPr>
          <p:cNvPr id="20" name="Text 16"/>
          <p:cNvSpPr/>
          <p:nvPr/>
        </p:nvSpPr>
        <p:spPr>
          <a:xfrm>
            <a:off x="521208" y="3547872"/>
            <a:ext cx="3886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RAG posture - not quarterly fire drills.</a:t>
            </a:r>
            <a:endParaRPr lang="en-US" sz="850" dirty="0"/>
          </a:p>
        </p:txBody>
      </p:sp>
      <p:sp>
        <p:nvSpPr>
          <p:cNvPr id="21" name="Shape 17"/>
          <p:cNvSpPr/>
          <p:nvPr/>
        </p:nvSpPr>
        <p:spPr>
          <a:xfrm>
            <a:off x="4663440" y="3200400"/>
            <a:ext cx="4069080" cy="868680"/>
          </a:xfrm>
          <a:prstGeom prst="roundRect">
            <a:avLst>
              <a:gd name="adj" fmla="val 8421"/>
            </a:avLst>
          </a:prstGeom>
          <a:solidFill>
            <a:srgbClr val="12141C"/>
          </a:solidFill>
          <a:ln w="12700">
            <a:solidFill>
              <a:srgbClr val="064E3B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4773168" y="3291840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Propel Ready + ComplAI</a:t>
            </a:r>
            <a:endParaRPr lang="en-US" sz="1000" dirty="0"/>
          </a:p>
        </p:txBody>
      </p:sp>
      <p:sp>
        <p:nvSpPr>
          <p:cNvPr id="23" name="Text 19"/>
          <p:cNvSpPr/>
          <p:nvPr/>
        </p:nvSpPr>
        <p:spPr>
          <a:xfrm>
            <a:off x="4773168" y="3547872"/>
            <a:ext cx="3886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Consulting, integration guides, and onboarding included.</a:t>
            </a:r>
            <a:endParaRPr lang="en-US" sz="850" dirty="0"/>
          </a:p>
        </p:txBody>
      </p:sp>
      <p:sp>
        <p:nvSpPr>
          <p:cNvPr id="24" name="Shape 20"/>
          <p:cNvSpPr/>
          <p:nvPr/>
        </p:nvSpPr>
        <p:spPr>
          <a:xfrm>
            <a:off x="411480" y="4114800"/>
            <a:ext cx="3161995" cy="41148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3F3F46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411480" y="4197096"/>
            <a:ext cx="31619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21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Propel Ready</a:t>
            </a:r>
            <a:endParaRPr lang="en-US" sz="1100" dirty="0"/>
          </a:p>
        </p:txBody>
      </p:sp>
      <p:sp>
        <p:nvSpPr>
          <p:cNvPr id="26" name="Text 22"/>
          <p:cNvSpPr/>
          <p:nvPr/>
        </p:nvSpPr>
        <p:spPr>
          <a:xfrm>
            <a:off x="411480" y="4354830"/>
            <a:ext cx="31619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Consulting &amp; onboarding</a:t>
            </a:r>
            <a:endParaRPr lang="en-US" sz="800" dirty="0"/>
          </a:p>
        </p:txBody>
      </p:sp>
      <p:sp>
        <p:nvSpPr>
          <p:cNvPr id="27" name="Shape 23"/>
          <p:cNvSpPr/>
          <p:nvPr/>
        </p:nvSpPr>
        <p:spPr>
          <a:xfrm>
            <a:off x="3646627" y="4286250"/>
            <a:ext cx="320040" cy="164592"/>
          </a:xfrm>
          <a:prstGeom prst="rightArrow">
            <a:avLst/>
          </a:prstGeom>
          <a:solidFill>
            <a:srgbClr val="10B9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4076395" y="4080510"/>
            <a:ext cx="1494130" cy="480060"/>
          </a:xfrm>
          <a:prstGeom prst="roundRect">
            <a:avLst>
              <a:gd name="adj" fmla="val 15238"/>
            </a:avLst>
          </a:prstGeom>
          <a:solidFill>
            <a:srgbClr val="D1FAE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4122115" y="4238244"/>
            <a:ext cx="140269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Expert-backed delivery</a:t>
            </a:r>
            <a:endParaRPr lang="en-US" sz="1000" dirty="0"/>
          </a:p>
        </p:txBody>
      </p:sp>
      <p:sp>
        <p:nvSpPr>
          <p:cNvPr id="30" name="Shape 26"/>
          <p:cNvSpPr/>
          <p:nvPr/>
        </p:nvSpPr>
        <p:spPr>
          <a:xfrm>
            <a:off x="5177333" y="4286250"/>
            <a:ext cx="320040" cy="164592"/>
          </a:xfrm>
          <a:prstGeom prst="rightArrow">
            <a:avLst/>
          </a:prstGeom>
          <a:solidFill>
            <a:srgbClr val="10B9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Shape 27"/>
          <p:cNvSpPr/>
          <p:nvPr/>
        </p:nvSpPr>
        <p:spPr>
          <a:xfrm>
            <a:off x="5570525" y="4114800"/>
            <a:ext cx="3161995" cy="411480"/>
          </a:xfrm>
          <a:prstGeom prst="roundRect">
            <a:avLst>
              <a:gd name="adj" fmla="val 17778"/>
            </a:avLst>
          </a:prstGeom>
          <a:solidFill>
            <a:srgbClr val="12141C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5570525" y="4197096"/>
            <a:ext cx="31619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ComplAI</a:t>
            </a:r>
            <a:endParaRPr lang="en-US" sz="1100" dirty="0"/>
          </a:p>
        </p:txBody>
      </p:sp>
      <p:sp>
        <p:nvSpPr>
          <p:cNvPr id="33" name="Text 29"/>
          <p:cNvSpPr/>
          <p:nvPr/>
        </p:nvSpPr>
        <p:spPr>
          <a:xfrm>
            <a:off x="5570525" y="4354830"/>
            <a:ext cx="31619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GRC platform</a:t>
            </a:r>
            <a:endParaRPr lang="en-US" sz="800" dirty="0"/>
          </a:p>
        </p:txBody>
      </p:sp>
      <p:sp>
        <p:nvSpPr>
          <p:cNvPr id="34" name="Text 30"/>
          <p:cNvSpPr/>
          <p:nvPr/>
        </p:nvSpPr>
        <p:spPr>
          <a:xfrm>
            <a:off x="365760" y="47091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3 of 9</a:t>
            </a:r>
            <a:endParaRPr lang="en-US" sz="800" dirty="0"/>
          </a:p>
        </p:txBody>
      </p:sp>
      <p:pic>
        <p:nvPicPr>
          <p:cNvPr id="3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98130" y="4663440"/>
            <a:ext cx="377190" cy="274320"/>
          </a:xfrm>
          <a:prstGeom prst="rect">
            <a:avLst/>
          </a:prstGeom>
        </p:spPr>
      </p:pic>
      <p:sp>
        <p:nvSpPr>
          <p:cNvPr id="36" name="Text 31"/>
          <p:cNvSpPr/>
          <p:nvPr/>
        </p:nvSpPr>
        <p:spPr>
          <a:xfrm>
            <a:off x="6537960" y="470916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i="1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214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10B9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" y="91440"/>
            <a:ext cx="1691640" cy="237744"/>
          </a:xfrm>
          <a:prstGeom prst="roundRect">
            <a:avLst>
              <a:gd name="adj" fmla="val 38462"/>
            </a:avLst>
          </a:prstGeom>
          <a:solidFill>
            <a:srgbClr val="10B9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13232" y="91440"/>
            <a:ext cx="1691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8275320" y="91440"/>
            <a:ext cx="457200" cy="237744"/>
          </a:xfrm>
          <a:prstGeom prst="roundRect">
            <a:avLst>
              <a:gd name="adj" fmla="val 38462"/>
            </a:avLst>
          </a:prstGeom>
          <a:solidFill>
            <a:srgbClr val="064E3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75320" y="91440"/>
            <a:ext cx="457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4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91440"/>
            <a:ext cx="237744" cy="237744"/>
          </a:xfrm>
          <a:prstGeom prst="rect">
            <a:avLst/>
          </a:prstGeom>
        </p:spPr>
      </p:pic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91440"/>
            <a:ext cx="1874520" cy="43891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11480" y="1234440"/>
            <a:ext cx="7132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4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 overview - every capability in one workspace</a:t>
            </a:r>
            <a:endParaRPr lang="en-US" sz="2200" dirty="0"/>
          </a:p>
        </p:txBody>
      </p:sp>
      <p:sp>
        <p:nvSpPr>
          <p:cNvPr id="10" name="Shape 6"/>
          <p:cNvSpPr/>
          <p:nvPr/>
        </p:nvSpPr>
        <p:spPr>
          <a:xfrm>
            <a:off x="411480" y="1801368"/>
            <a:ext cx="1005840" cy="45720"/>
          </a:xfrm>
          <a:prstGeom prst="rect">
            <a:avLst/>
          </a:prstGeom>
          <a:solidFill>
            <a:srgbClr val="10B9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411480" y="1892808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Leadership, compliance, policies, risk, TPRM, integrations, and AI in one data model.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6149340" y="2720340"/>
            <a:ext cx="1005840" cy="1005840"/>
          </a:xfrm>
          <a:prstGeom prst="ellipse">
            <a:avLst/>
          </a:prstGeom>
          <a:solidFill>
            <a:srgbClr val="059669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6149340" y="308610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ComplAI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6652260" y="3223260"/>
            <a:ext cx="0" cy="-1056132"/>
          </a:xfrm>
          <a:prstGeom prst="line">
            <a:avLst/>
          </a:prstGeom>
          <a:noFill/>
          <a:ln w="19050">
            <a:solidFill>
              <a:srgbClr val="3F3F46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263640" y="1993392"/>
            <a:ext cx="77724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3F3F46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6263640" y="1993392"/>
            <a:ext cx="777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Leadership</a:t>
            </a:r>
            <a:endParaRPr lang="en-US" sz="650" dirty="0"/>
          </a:p>
        </p:txBody>
      </p:sp>
      <p:sp>
        <p:nvSpPr>
          <p:cNvPr id="17" name="Shape 13"/>
          <p:cNvSpPr/>
          <p:nvPr/>
        </p:nvSpPr>
        <p:spPr>
          <a:xfrm>
            <a:off x="6652260" y="3223260"/>
            <a:ext cx="678869" cy="-809044"/>
          </a:xfrm>
          <a:prstGeom prst="line">
            <a:avLst/>
          </a:prstGeom>
          <a:noFill/>
          <a:ln w="19050">
            <a:solidFill>
              <a:srgbClr val="3F3F46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6942509" y="2240480"/>
            <a:ext cx="77724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3F3F46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6942509" y="2240480"/>
            <a:ext cx="777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Policies</a:t>
            </a:r>
            <a:endParaRPr lang="en-US" sz="650" dirty="0"/>
          </a:p>
        </p:txBody>
      </p:sp>
      <p:sp>
        <p:nvSpPr>
          <p:cNvPr id="20" name="Shape 16"/>
          <p:cNvSpPr/>
          <p:nvPr/>
        </p:nvSpPr>
        <p:spPr>
          <a:xfrm>
            <a:off x="6652260" y="3223260"/>
            <a:ext cx="1040087" cy="-183395"/>
          </a:xfrm>
          <a:prstGeom prst="line">
            <a:avLst/>
          </a:prstGeom>
          <a:noFill/>
          <a:ln w="19050">
            <a:solidFill>
              <a:srgbClr val="3F3F46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7303727" y="2866129"/>
            <a:ext cx="77724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3F3F46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7303727" y="2866129"/>
            <a:ext cx="777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Controls</a:t>
            </a:r>
            <a:endParaRPr lang="en-US" sz="650" dirty="0"/>
          </a:p>
        </p:txBody>
      </p:sp>
      <p:sp>
        <p:nvSpPr>
          <p:cNvPr id="23" name="Shape 19"/>
          <p:cNvSpPr/>
          <p:nvPr/>
        </p:nvSpPr>
        <p:spPr>
          <a:xfrm>
            <a:off x="6652260" y="3223260"/>
            <a:ext cx="914637" cy="528066"/>
          </a:xfrm>
          <a:prstGeom prst="line">
            <a:avLst/>
          </a:prstGeom>
          <a:noFill/>
          <a:ln w="19050">
            <a:solidFill>
              <a:srgbClr val="3F3F46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7178277" y="3577590"/>
            <a:ext cx="77724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3F3F46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7178277" y="3577590"/>
            <a:ext cx="777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Frameworks</a:t>
            </a:r>
            <a:endParaRPr lang="en-US" sz="650" dirty="0"/>
          </a:p>
        </p:txBody>
      </p:sp>
      <p:sp>
        <p:nvSpPr>
          <p:cNvPr id="26" name="Shape 22"/>
          <p:cNvSpPr/>
          <p:nvPr/>
        </p:nvSpPr>
        <p:spPr>
          <a:xfrm>
            <a:off x="6652260" y="3223260"/>
            <a:ext cx="361218" cy="992439"/>
          </a:xfrm>
          <a:prstGeom prst="line">
            <a:avLst/>
          </a:prstGeom>
          <a:noFill/>
          <a:ln w="19050">
            <a:solidFill>
              <a:srgbClr val="3F3F46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6624858" y="4041963"/>
            <a:ext cx="77724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3F3F46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6624858" y="4041963"/>
            <a:ext cx="777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Integrations</a:t>
            </a:r>
            <a:endParaRPr lang="en-US" sz="650" dirty="0"/>
          </a:p>
        </p:txBody>
      </p:sp>
      <p:sp>
        <p:nvSpPr>
          <p:cNvPr id="29" name="Shape 25"/>
          <p:cNvSpPr/>
          <p:nvPr/>
        </p:nvSpPr>
        <p:spPr>
          <a:xfrm>
            <a:off x="6652260" y="3223260"/>
            <a:ext cx="-361218" cy="992439"/>
          </a:xfrm>
          <a:prstGeom prst="line">
            <a:avLst/>
          </a:prstGeom>
          <a:noFill/>
          <a:ln w="19050">
            <a:solidFill>
              <a:srgbClr val="3F3F46"/>
            </a:solidFill>
            <a:prstDash val="solid"/>
          </a:ln>
        </p:spPr>
      </p:sp>
      <p:sp>
        <p:nvSpPr>
          <p:cNvPr id="30" name="Shape 26"/>
          <p:cNvSpPr/>
          <p:nvPr/>
        </p:nvSpPr>
        <p:spPr>
          <a:xfrm>
            <a:off x="5902422" y="4041963"/>
            <a:ext cx="77724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3F3F46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5902422" y="4041963"/>
            <a:ext cx="777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Intelligence</a:t>
            </a:r>
            <a:endParaRPr lang="en-US" sz="650" dirty="0"/>
          </a:p>
        </p:txBody>
      </p:sp>
      <p:sp>
        <p:nvSpPr>
          <p:cNvPr id="32" name="Shape 28"/>
          <p:cNvSpPr/>
          <p:nvPr/>
        </p:nvSpPr>
        <p:spPr>
          <a:xfrm>
            <a:off x="6652260" y="3223260"/>
            <a:ext cx="-914637" cy="528066"/>
          </a:xfrm>
          <a:prstGeom prst="line">
            <a:avLst/>
          </a:prstGeom>
          <a:noFill/>
          <a:ln w="19050">
            <a:solidFill>
              <a:srgbClr val="3F3F46"/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5349003" y="3577590"/>
            <a:ext cx="77724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3F3F46"/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5349003" y="3577590"/>
            <a:ext cx="777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</a:t>
            </a:r>
            <a:endParaRPr lang="en-US" sz="650" dirty="0"/>
          </a:p>
        </p:txBody>
      </p:sp>
      <p:sp>
        <p:nvSpPr>
          <p:cNvPr id="35" name="Shape 31"/>
          <p:cNvSpPr/>
          <p:nvPr/>
        </p:nvSpPr>
        <p:spPr>
          <a:xfrm>
            <a:off x="6652260" y="3223260"/>
            <a:ext cx="-1040087" cy="-183395"/>
          </a:xfrm>
          <a:prstGeom prst="line">
            <a:avLst/>
          </a:prstGeom>
          <a:noFill/>
          <a:ln w="19050">
            <a:solidFill>
              <a:srgbClr val="3F3F46"/>
            </a:solidFill>
            <a:prstDash val="solid"/>
          </a:ln>
        </p:spPr>
      </p:sp>
      <p:sp>
        <p:nvSpPr>
          <p:cNvPr id="36" name="Shape 32"/>
          <p:cNvSpPr/>
          <p:nvPr/>
        </p:nvSpPr>
        <p:spPr>
          <a:xfrm>
            <a:off x="5223553" y="2866129"/>
            <a:ext cx="77724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3F3F46"/>
            </a:solidFill>
            <a:prstDash val="solid"/>
          </a:ln>
        </p:spPr>
      </p:sp>
      <p:sp>
        <p:nvSpPr>
          <p:cNvPr id="37" name="Text 33"/>
          <p:cNvSpPr/>
          <p:nvPr/>
        </p:nvSpPr>
        <p:spPr>
          <a:xfrm>
            <a:off x="5223553" y="2866129"/>
            <a:ext cx="777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TPRM</a:t>
            </a:r>
            <a:endParaRPr lang="en-US" sz="650" dirty="0"/>
          </a:p>
        </p:txBody>
      </p:sp>
      <p:sp>
        <p:nvSpPr>
          <p:cNvPr id="38" name="Shape 34"/>
          <p:cNvSpPr/>
          <p:nvPr/>
        </p:nvSpPr>
        <p:spPr>
          <a:xfrm>
            <a:off x="6652260" y="3223260"/>
            <a:ext cx="-678869" cy="-809044"/>
          </a:xfrm>
          <a:prstGeom prst="line">
            <a:avLst/>
          </a:prstGeom>
          <a:noFill/>
          <a:ln w="19050">
            <a:solidFill>
              <a:srgbClr val="3F3F46"/>
            </a:solidFill>
            <a:prstDash val="solid"/>
          </a:ln>
        </p:spPr>
      </p:sp>
      <p:sp>
        <p:nvSpPr>
          <p:cNvPr id="39" name="Shape 35"/>
          <p:cNvSpPr/>
          <p:nvPr/>
        </p:nvSpPr>
        <p:spPr>
          <a:xfrm>
            <a:off x="5584771" y="2240480"/>
            <a:ext cx="77724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3F3F46"/>
            </a:solidFill>
            <a:prstDash val="solid"/>
          </a:ln>
        </p:spPr>
      </p:sp>
      <p:sp>
        <p:nvSpPr>
          <p:cNvPr id="40" name="Text 36"/>
          <p:cNvSpPr/>
          <p:nvPr/>
        </p:nvSpPr>
        <p:spPr>
          <a:xfrm>
            <a:off x="5584771" y="2240480"/>
            <a:ext cx="777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Audits</a:t>
            </a:r>
            <a:endParaRPr lang="en-US" sz="650" dirty="0"/>
          </a:p>
        </p:txBody>
      </p:sp>
      <p:sp>
        <p:nvSpPr>
          <p:cNvPr id="41" name="Shape 37"/>
          <p:cNvSpPr/>
          <p:nvPr/>
        </p:nvSpPr>
        <p:spPr>
          <a:xfrm>
            <a:off x="411480" y="2240280"/>
            <a:ext cx="1920240" cy="777240"/>
          </a:xfrm>
          <a:prstGeom prst="roundRect">
            <a:avLst>
              <a:gd name="adj" fmla="val 7059"/>
            </a:avLst>
          </a:prstGeom>
          <a:solidFill>
            <a:srgbClr val="12141C"/>
          </a:solidFill>
          <a:ln w="12700">
            <a:solidFill>
              <a:srgbClr val="064E3B"/>
            </a:solidFill>
            <a:prstDash val="solid"/>
          </a:ln>
        </p:spPr>
      </p:sp>
      <p:sp>
        <p:nvSpPr>
          <p:cNvPr id="42" name="Text 38"/>
          <p:cNvSpPr/>
          <p:nvPr/>
        </p:nvSpPr>
        <p:spPr>
          <a:xfrm>
            <a:off x="484632" y="2313432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Leadership dashboard</a:t>
            </a:r>
            <a:endParaRPr lang="en-US" sz="750" dirty="0"/>
          </a:p>
        </p:txBody>
      </p:sp>
      <p:sp>
        <p:nvSpPr>
          <p:cNvPr id="43" name="Text 39"/>
          <p:cNvSpPr/>
          <p:nvPr/>
        </p:nvSpPr>
        <p:spPr>
          <a:xfrm>
            <a:off x="484632" y="2551176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by domain, readiness, path to green</a:t>
            </a:r>
            <a:endParaRPr lang="en-US" sz="650" dirty="0"/>
          </a:p>
        </p:txBody>
      </p:sp>
      <p:sp>
        <p:nvSpPr>
          <p:cNvPr id="44" name="Shape 40"/>
          <p:cNvSpPr/>
          <p:nvPr/>
        </p:nvSpPr>
        <p:spPr>
          <a:xfrm>
            <a:off x="2468880" y="2240280"/>
            <a:ext cx="1920240" cy="777240"/>
          </a:xfrm>
          <a:prstGeom prst="roundRect">
            <a:avLst>
              <a:gd name="adj" fmla="val 7059"/>
            </a:avLst>
          </a:prstGeom>
          <a:solidFill>
            <a:srgbClr val="12141C"/>
          </a:solidFill>
          <a:ln w="12700">
            <a:solidFill>
              <a:srgbClr val="064E3B"/>
            </a:solidFill>
            <a:prstDash val="solid"/>
          </a:ln>
        </p:spPr>
      </p:sp>
      <p:sp>
        <p:nvSpPr>
          <p:cNvPr id="45" name="Text 41"/>
          <p:cNvSpPr/>
          <p:nvPr/>
        </p:nvSpPr>
        <p:spPr>
          <a:xfrm>
            <a:off x="2542032" y="2313432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Framework compliance</a:t>
            </a:r>
            <a:endParaRPr lang="en-US" sz="750" dirty="0"/>
          </a:p>
        </p:txBody>
      </p:sp>
      <p:sp>
        <p:nvSpPr>
          <p:cNvPr id="46" name="Text 42"/>
          <p:cNvSpPr/>
          <p:nvPr/>
        </p:nvSpPr>
        <p:spPr>
          <a:xfrm>
            <a:off x="2542032" y="2551176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Pre-mapped controls with evidence per standard</a:t>
            </a:r>
            <a:endParaRPr lang="en-US" sz="650" dirty="0"/>
          </a:p>
        </p:txBody>
      </p:sp>
      <p:sp>
        <p:nvSpPr>
          <p:cNvPr id="47" name="Shape 43"/>
          <p:cNvSpPr/>
          <p:nvPr/>
        </p:nvSpPr>
        <p:spPr>
          <a:xfrm>
            <a:off x="411480" y="3108960"/>
            <a:ext cx="1920240" cy="777240"/>
          </a:xfrm>
          <a:prstGeom prst="roundRect">
            <a:avLst>
              <a:gd name="adj" fmla="val 7059"/>
            </a:avLst>
          </a:prstGeom>
          <a:solidFill>
            <a:srgbClr val="12141C"/>
          </a:solidFill>
          <a:ln w="12700">
            <a:solidFill>
              <a:srgbClr val="064E3B"/>
            </a:solidFill>
            <a:prstDash val="solid"/>
          </a:ln>
        </p:spPr>
      </p:sp>
      <p:sp>
        <p:nvSpPr>
          <p:cNvPr id="48" name="Text 44"/>
          <p:cNvSpPr/>
          <p:nvPr/>
        </p:nvSpPr>
        <p:spPr>
          <a:xfrm>
            <a:off x="484632" y="3182112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Policies &amp; ISMS</a:t>
            </a:r>
            <a:endParaRPr lang="en-US" sz="750" dirty="0"/>
          </a:p>
        </p:txBody>
      </p:sp>
      <p:sp>
        <p:nvSpPr>
          <p:cNvPr id="49" name="Text 45"/>
          <p:cNvSpPr/>
          <p:nvPr/>
        </p:nvSpPr>
        <p:spPr>
          <a:xfrm>
            <a:off x="484632" y="3419856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100+ templates, approvals, Word export</a:t>
            </a:r>
            <a:endParaRPr lang="en-US" sz="650" dirty="0"/>
          </a:p>
        </p:txBody>
      </p:sp>
      <p:sp>
        <p:nvSpPr>
          <p:cNvPr id="50" name="Shape 46"/>
          <p:cNvSpPr/>
          <p:nvPr/>
        </p:nvSpPr>
        <p:spPr>
          <a:xfrm>
            <a:off x="2468880" y="3108960"/>
            <a:ext cx="1920240" cy="777240"/>
          </a:xfrm>
          <a:prstGeom prst="roundRect">
            <a:avLst>
              <a:gd name="adj" fmla="val 7059"/>
            </a:avLst>
          </a:prstGeom>
          <a:solidFill>
            <a:srgbClr val="12141C"/>
          </a:solidFill>
          <a:ln w="12700">
            <a:solidFill>
              <a:srgbClr val="064E3B"/>
            </a:solidFill>
            <a:prstDash val="solid"/>
          </a:ln>
        </p:spPr>
      </p:sp>
      <p:sp>
        <p:nvSpPr>
          <p:cNvPr id="51" name="Text 47"/>
          <p:cNvSpPr/>
          <p:nvPr/>
        </p:nvSpPr>
        <p:spPr>
          <a:xfrm>
            <a:off x="2542032" y="3182112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Controls &amp; evidence</a:t>
            </a:r>
            <a:endParaRPr lang="en-US" sz="750" dirty="0"/>
          </a:p>
        </p:txBody>
      </p:sp>
      <p:sp>
        <p:nvSpPr>
          <p:cNvPr id="52" name="Text 48"/>
          <p:cNvSpPr/>
          <p:nvPr/>
        </p:nvSpPr>
        <p:spPr>
          <a:xfrm>
            <a:off x="2542032" y="3419856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Status, issues, remediation, integrations</a:t>
            </a:r>
            <a:endParaRPr lang="en-US" sz="650" dirty="0"/>
          </a:p>
        </p:txBody>
      </p:sp>
      <p:sp>
        <p:nvSpPr>
          <p:cNvPr id="53" name="Shape 49"/>
          <p:cNvSpPr/>
          <p:nvPr/>
        </p:nvSpPr>
        <p:spPr>
          <a:xfrm>
            <a:off x="411480" y="3977640"/>
            <a:ext cx="1920240" cy="777240"/>
          </a:xfrm>
          <a:prstGeom prst="roundRect">
            <a:avLst>
              <a:gd name="adj" fmla="val 7059"/>
            </a:avLst>
          </a:prstGeom>
          <a:solidFill>
            <a:srgbClr val="12141C"/>
          </a:solidFill>
          <a:ln w="12700">
            <a:solidFill>
              <a:srgbClr val="064E3B"/>
            </a:solidFill>
            <a:prstDash val="solid"/>
          </a:ln>
        </p:spPr>
      </p:sp>
      <p:sp>
        <p:nvSpPr>
          <p:cNvPr id="54" name="Text 50"/>
          <p:cNvSpPr/>
          <p:nvPr/>
        </p:nvSpPr>
        <p:spPr>
          <a:xfrm>
            <a:off x="484632" y="4050792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register</a:t>
            </a:r>
            <a:endParaRPr lang="en-US" sz="750" dirty="0"/>
          </a:p>
        </p:txBody>
      </p:sp>
      <p:sp>
        <p:nvSpPr>
          <p:cNvPr id="55" name="Text 51"/>
          <p:cNvSpPr/>
          <p:nvPr/>
        </p:nvSpPr>
        <p:spPr>
          <a:xfrm>
            <a:off x="484632" y="4288536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Living register linked to controls</a:t>
            </a:r>
            <a:endParaRPr lang="en-US" sz="650" dirty="0"/>
          </a:p>
        </p:txBody>
      </p:sp>
      <p:sp>
        <p:nvSpPr>
          <p:cNvPr id="56" name="Shape 52"/>
          <p:cNvSpPr/>
          <p:nvPr/>
        </p:nvSpPr>
        <p:spPr>
          <a:xfrm>
            <a:off x="2468880" y="3977640"/>
            <a:ext cx="1920240" cy="777240"/>
          </a:xfrm>
          <a:prstGeom prst="roundRect">
            <a:avLst>
              <a:gd name="adj" fmla="val 7059"/>
            </a:avLst>
          </a:prstGeom>
          <a:solidFill>
            <a:srgbClr val="12141C"/>
          </a:solidFill>
          <a:ln w="12700">
            <a:solidFill>
              <a:srgbClr val="064E3B"/>
            </a:solidFill>
            <a:prstDash val="solid"/>
          </a:ln>
        </p:spPr>
      </p:sp>
      <p:sp>
        <p:nvSpPr>
          <p:cNvPr id="57" name="Text 53"/>
          <p:cNvSpPr/>
          <p:nvPr/>
        </p:nvSpPr>
        <p:spPr>
          <a:xfrm>
            <a:off x="2542032" y="4050792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TPRM / Vendors</a:t>
            </a:r>
            <a:endParaRPr lang="en-US" sz="750" dirty="0"/>
          </a:p>
        </p:txBody>
      </p:sp>
      <p:sp>
        <p:nvSpPr>
          <p:cNvPr id="58" name="Text 54"/>
          <p:cNvSpPr/>
          <p:nvPr/>
        </p:nvSpPr>
        <p:spPr>
          <a:xfrm>
            <a:off x="2542032" y="4288536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Ratings, questionnaires, findings</a:t>
            </a:r>
            <a:endParaRPr lang="en-US" sz="650" dirty="0"/>
          </a:p>
        </p:txBody>
      </p:sp>
      <p:sp>
        <p:nvSpPr>
          <p:cNvPr id="59" name="Text 55"/>
          <p:cNvSpPr/>
          <p:nvPr/>
        </p:nvSpPr>
        <p:spPr>
          <a:xfrm>
            <a:off x="365760" y="47091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4 of 9</a:t>
            </a:r>
            <a:endParaRPr lang="en-US" sz="800" dirty="0"/>
          </a:p>
        </p:txBody>
      </p:sp>
      <p:pic>
        <p:nvPicPr>
          <p:cNvPr id="6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98130" y="4663440"/>
            <a:ext cx="377190" cy="274320"/>
          </a:xfrm>
          <a:prstGeom prst="rect">
            <a:avLst/>
          </a:prstGeom>
        </p:spPr>
      </p:pic>
      <p:sp>
        <p:nvSpPr>
          <p:cNvPr id="61" name="Text 56"/>
          <p:cNvSpPr/>
          <p:nvPr/>
        </p:nvSpPr>
        <p:spPr>
          <a:xfrm>
            <a:off x="6537960" y="470916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i="1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214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10B9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" y="91440"/>
            <a:ext cx="1691640" cy="237744"/>
          </a:xfrm>
          <a:prstGeom prst="roundRect">
            <a:avLst>
              <a:gd name="adj" fmla="val 38462"/>
            </a:avLst>
          </a:prstGeom>
          <a:solidFill>
            <a:srgbClr val="10B9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13232" y="91440"/>
            <a:ext cx="1691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Compliance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8275320" y="91440"/>
            <a:ext cx="457200" cy="237744"/>
          </a:xfrm>
          <a:prstGeom prst="roundRect">
            <a:avLst>
              <a:gd name="adj" fmla="val 38462"/>
            </a:avLst>
          </a:prstGeom>
          <a:solidFill>
            <a:srgbClr val="064E3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75320" y="91440"/>
            <a:ext cx="457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4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8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91440"/>
            <a:ext cx="237744" cy="237744"/>
          </a:xfrm>
          <a:prstGeom prst="rect">
            <a:avLst/>
          </a:prstGeom>
        </p:spPr>
      </p:pic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91440"/>
            <a:ext cx="1874520" cy="43891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11480" y="1234440"/>
            <a:ext cx="7132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4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Compliance, frameworks &amp; audit readiness</a:t>
            </a:r>
            <a:endParaRPr lang="en-US" sz="2200" dirty="0"/>
          </a:p>
        </p:txBody>
      </p:sp>
      <p:sp>
        <p:nvSpPr>
          <p:cNvPr id="10" name="Shape 6"/>
          <p:cNvSpPr/>
          <p:nvPr/>
        </p:nvSpPr>
        <p:spPr>
          <a:xfrm>
            <a:off x="411480" y="1801368"/>
            <a:ext cx="1005840" cy="45720"/>
          </a:xfrm>
          <a:prstGeom prst="rect">
            <a:avLst/>
          </a:prstGeom>
          <a:solidFill>
            <a:srgbClr val="10B9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411480" y="1892808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 standards - pre-mapped controls - policies and evidence in one program.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411480" y="2240280"/>
            <a:ext cx="3931920" cy="621792"/>
          </a:xfrm>
          <a:prstGeom prst="roundRect">
            <a:avLst>
              <a:gd name="adj" fmla="val 8824"/>
            </a:avLst>
          </a:prstGeom>
          <a:solidFill>
            <a:srgbClr val="12141C"/>
          </a:solidFill>
          <a:ln w="12700">
            <a:solidFill>
              <a:srgbClr val="064E3B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548640" y="2331720"/>
            <a:ext cx="822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1417320" y="2350008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4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frameworks - SOC 2, ISO 27001, ISO 22301, ISO 31000, DPDP, GDPR…</a:t>
            </a:r>
            <a:endParaRPr lang="en-US" sz="800" dirty="0"/>
          </a:p>
        </p:txBody>
      </p:sp>
      <p:sp>
        <p:nvSpPr>
          <p:cNvPr id="15" name="Shape 11"/>
          <p:cNvSpPr/>
          <p:nvPr/>
        </p:nvSpPr>
        <p:spPr>
          <a:xfrm>
            <a:off x="411480" y="2935224"/>
            <a:ext cx="3931920" cy="621792"/>
          </a:xfrm>
          <a:prstGeom prst="roundRect">
            <a:avLst>
              <a:gd name="adj" fmla="val 8824"/>
            </a:avLst>
          </a:prstGeom>
          <a:solidFill>
            <a:srgbClr val="12141C"/>
          </a:solidFill>
          <a:ln w="12700">
            <a:solidFill>
              <a:srgbClr val="064E3B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548640" y="3026664"/>
            <a:ext cx="822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</a:t>
            </a:r>
            <a:endParaRPr lang="en-US" sz="1800" dirty="0"/>
          </a:p>
        </p:txBody>
      </p:sp>
      <p:sp>
        <p:nvSpPr>
          <p:cNvPr id="17" name="Text 13"/>
          <p:cNvSpPr/>
          <p:nvPr/>
        </p:nvSpPr>
        <p:spPr>
          <a:xfrm>
            <a:off x="1417320" y="3044952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4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status per control and domain</a:t>
            </a:r>
            <a:endParaRPr lang="en-US" sz="800" dirty="0"/>
          </a:p>
        </p:txBody>
      </p:sp>
      <p:sp>
        <p:nvSpPr>
          <p:cNvPr id="18" name="Shape 14"/>
          <p:cNvSpPr/>
          <p:nvPr/>
        </p:nvSpPr>
        <p:spPr>
          <a:xfrm>
            <a:off x="411480" y="3630168"/>
            <a:ext cx="3931920" cy="621792"/>
          </a:xfrm>
          <a:prstGeom prst="roundRect">
            <a:avLst>
              <a:gd name="adj" fmla="val 8824"/>
            </a:avLst>
          </a:prstGeom>
          <a:solidFill>
            <a:srgbClr val="12141C"/>
          </a:solidFill>
          <a:ln w="12700">
            <a:solidFill>
              <a:srgbClr val="064E3B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548640" y="3721608"/>
            <a:ext cx="822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100+</a:t>
            </a:r>
            <a:endParaRPr lang="en-US" sz="1800" dirty="0"/>
          </a:p>
        </p:txBody>
      </p:sp>
      <p:sp>
        <p:nvSpPr>
          <p:cNvPr id="20" name="Text 16"/>
          <p:cNvSpPr/>
          <p:nvPr/>
        </p:nvSpPr>
        <p:spPr>
          <a:xfrm>
            <a:off x="1417320" y="3739896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4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ISMS templates with approval workflows</a:t>
            </a:r>
            <a:endParaRPr lang="en-US" sz="800" dirty="0"/>
          </a:p>
        </p:txBody>
      </p:sp>
      <p:sp>
        <p:nvSpPr>
          <p:cNvPr id="21" name="Text 17"/>
          <p:cNvSpPr/>
          <p:nvPr/>
        </p:nvSpPr>
        <p:spPr>
          <a:xfrm>
            <a:off x="411480" y="4370832"/>
            <a:ext cx="3931920" cy="182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F4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 controls once - evidence satisfies overlapping requirements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F4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upload and audit-ready export per control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F4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Policy lifecycle: template -&gt; approve -&gt; publish -&gt; audit</a:t>
            </a:r>
            <a:endParaRPr lang="en-US" sz="850" dirty="0"/>
          </a:p>
        </p:txBody>
      </p:sp>
      <p:graphicFrame>
        <p:nvGraphicFramePr>
          <p:cNvPr id="22" name="Chart 0" descr=""/>
          <p:cNvGraphicFramePr/>
          <p:nvPr/>
        </p:nvGraphicFramePr>
        <p:xfrm>
          <a:off x="4572000" y="1965960"/>
          <a:ext cx="2288286" cy="138303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23" name="Text 18"/>
          <p:cNvSpPr/>
          <p:nvPr/>
        </p:nvSpPr>
        <p:spPr>
          <a:xfrm>
            <a:off x="5144072" y="2418588"/>
            <a:ext cx="1144143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72%</a:t>
            </a:r>
            <a:endParaRPr lang="en-US" sz="1600" dirty="0"/>
          </a:p>
        </p:txBody>
      </p:sp>
      <p:sp>
        <p:nvSpPr>
          <p:cNvPr id="24" name="Text 19"/>
          <p:cNvSpPr/>
          <p:nvPr/>
        </p:nvSpPr>
        <p:spPr>
          <a:xfrm>
            <a:off x="5144072" y="2820924"/>
            <a:ext cx="1144143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readiness</a:t>
            </a:r>
            <a:endParaRPr lang="en-US" sz="700" dirty="0"/>
          </a:p>
        </p:txBody>
      </p:sp>
      <p:sp>
        <p:nvSpPr>
          <p:cNvPr id="25" name="Text 20"/>
          <p:cNvSpPr/>
          <p:nvPr/>
        </p:nvSpPr>
        <p:spPr>
          <a:xfrm>
            <a:off x="6951726" y="2011680"/>
            <a:ext cx="594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3F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</a:t>
            </a:r>
            <a:endParaRPr lang="en-US" sz="650" dirty="0"/>
          </a:p>
        </p:txBody>
      </p:sp>
      <p:sp>
        <p:nvSpPr>
          <p:cNvPr id="26" name="Shape 21"/>
          <p:cNvSpPr/>
          <p:nvPr/>
        </p:nvSpPr>
        <p:spPr>
          <a:xfrm>
            <a:off x="7591806" y="2039112"/>
            <a:ext cx="820674" cy="128016"/>
          </a:xfrm>
          <a:prstGeom prst="roundRect">
            <a:avLst>
              <a:gd name="adj" fmla="val 21429"/>
            </a:avLst>
          </a:prstGeom>
          <a:solidFill>
            <a:srgbClr val="3F3F4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7591806" y="2039112"/>
            <a:ext cx="722193" cy="128016"/>
          </a:xfrm>
          <a:prstGeom prst="roundRect">
            <a:avLst>
              <a:gd name="adj" fmla="val 21429"/>
            </a:avLst>
          </a:prstGeom>
          <a:solidFill>
            <a:srgbClr val="05966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8439912" y="2011680"/>
            <a:ext cx="2560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5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88%</a:t>
            </a:r>
            <a:endParaRPr lang="en-US" sz="650" dirty="0"/>
          </a:p>
        </p:txBody>
      </p:sp>
      <p:sp>
        <p:nvSpPr>
          <p:cNvPr id="29" name="Text 24"/>
          <p:cNvSpPr/>
          <p:nvPr/>
        </p:nvSpPr>
        <p:spPr>
          <a:xfrm>
            <a:off x="6951726" y="2286000"/>
            <a:ext cx="594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3F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</a:t>
            </a:r>
            <a:endParaRPr lang="en-US" sz="650" dirty="0"/>
          </a:p>
        </p:txBody>
      </p:sp>
      <p:sp>
        <p:nvSpPr>
          <p:cNvPr id="30" name="Shape 25"/>
          <p:cNvSpPr/>
          <p:nvPr/>
        </p:nvSpPr>
        <p:spPr>
          <a:xfrm>
            <a:off x="7591806" y="2313432"/>
            <a:ext cx="820674" cy="128016"/>
          </a:xfrm>
          <a:prstGeom prst="roundRect">
            <a:avLst>
              <a:gd name="adj" fmla="val 21429"/>
            </a:avLst>
          </a:prstGeom>
          <a:solidFill>
            <a:srgbClr val="3F3F4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Shape 26"/>
          <p:cNvSpPr/>
          <p:nvPr/>
        </p:nvSpPr>
        <p:spPr>
          <a:xfrm>
            <a:off x="7591806" y="2313432"/>
            <a:ext cx="582679" cy="128016"/>
          </a:xfrm>
          <a:prstGeom prst="roundRect">
            <a:avLst>
              <a:gd name="adj" fmla="val 21429"/>
            </a:avLst>
          </a:prstGeom>
          <a:solidFill>
            <a:srgbClr val="D9770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Text 27"/>
          <p:cNvSpPr/>
          <p:nvPr/>
        </p:nvSpPr>
        <p:spPr>
          <a:xfrm>
            <a:off x="8439912" y="2286000"/>
            <a:ext cx="2560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5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71%</a:t>
            </a:r>
            <a:endParaRPr lang="en-US" sz="650" dirty="0"/>
          </a:p>
        </p:txBody>
      </p:sp>
      <p:sp>
        <p:nvSpPr>
          <p:cNvPr id="33" name="Text 28"/>
          <p:cNvSpPr/>
          <p:nvPr/>
        </p:nvSpPr>
        <p:spPr>
          <a:xfrm>
            <a:off x="6951726" y="2560320"/>
            <a:ext cx="594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3F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Vendor</a:t>
            </a:r>
            <a:endParaRPr lang="en-US" sz="650" dirty="0"/>
          </a:p>
        </p:txBody>
      </p:sp>
      <p:sp>
        <p:nvSpPr>
          <p:cNvPr id="34" name="Shape 29"/>
          <p:cNvSpPr/>
          <p:nvPr/>
        </p:nvSpPr>
        <p:spPr>
          <a:xfrm>
            <a:off x="7591806" y="2587752"/>
            <a:ext cx="820674" cy="128016"/>
          </a:xfrm>
          <a:prstGeom prst="roundRect">
            <a:avLst>
              <a:gd name="adj" fmla="val 21429"/>
            </a:avLst>
          </a:prstGeom>
          <a:solidFill>
            <a:srgbClr val="3F3F4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Shape 30"/>
          <p:cNvSpPr/>
          <p:nvPr/>
        </p:nvSpPr>
        <p:spPr>
          <a:xfrm>
            <a:off x="7591806" y="2587752"/>
            <a:ext cx="648332" cy="128016"/>
          </a:xfrm>
          <a:prstGeom prst="roundRect">
            <a:avLst>
              <a:gd name="adj" fmla="val 21429"/>
            </a:avLst>
          </a:prstGeom>
          <a:solidFill>
            <a:srgbClr val="05966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Text 31"/>
          <p:cNvSpPr/>
          <p:nvPr/>
        </p:nvSpPr>
        <p:spPr>
          <a:xfrm>
            <a:off x="8439912" y="2560320"/>
            <a:ext cx="2560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5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79%</a:t>
            </a:r>
            <a:endParaRPr lang="en-US" sz="650" dirty="0"/>
          </a:p>
        </p:txBody>
      </p:sp>
      <p:sp>
        <p:nvSpPr>
          <p:cNvPr id="37" name="Text 32"/>
          <p:cNvSpPr/>
          <p:nvPr/>
        </p:nvSpPr>
        <p:spPr>
          <a:xfrm>
            <a:off x="6951726" y="2834640"/>
            <a:ext cx="594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3F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Ops</a:t>
            </a:r>
            <a:endParaRPr lang="en-US" sz="650" dirty="0"/>
          </a:p>
        </p:txBody>
      </p:sp>
      <p:sp>
        <p:nvSpPr>
          <p:cNvPr id="38" name="Shape 33"/>
          <p:cNvSpPr/>
          <p:nvPr/>
        </p:nvSpPr>
        <p:spPr>
          <a:xfrm>
            <a:off x="7591806" y="2862072"/>
            <a:ext cx="820674" cy="128016"/>
          </a:xfrm>
          <a:prstGeom prst="roundRect">
            <a:avLst>
              <a:gd name="adj" fmla="val 21429"/>
            </a:avLst>
          </a:prstGeom>
          <a:solidFill>
            <a:srgbClr val="3F3F4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9" name="Shape 34"/>
          <p:cNvSpPr/>
          <p:nvPr/>
        </p:nvSpPr>
        <p:spPr>
          <a:xfrm>
            <a:off x="7591806" y="2862072"/>
            <a:ext cx="533438" cy="128016"/>
          </a:xfrm>
          <a:prstGeom prst="roundRect">
            <a:avLst>
              <a:gd name="adj" fmla="val 21429"/>
            </a:avLst>
          </a:prstGeom>
          <a:solidFill>
            <a:srgbClr val="D9770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0" name="Text 35"/>
          <p:cNvSpPr/>
          <p:nvPr/>
        </p:nvSpPr>
        <p:spPr>
          <a:xfrm>
            <a:off x="8439912" y="2834640"/>
            <a:ext cx="2560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5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65%</a:t>
            </a:r>
            <a:endParaRPr lang="en-US" sz="650" dirty="0"/>
          </a:p>
        </p:txBody>
      </p:sp>
      <p:sp>
        <p:nvSpPr>
          <p:cNvPr id="41" name="Text 36"/>
          <p:cNvSpPr/>
          <p:nvPr/>
        </p:nvSpPr>
        <p:spPr>
          <a:xfrm>
            <a:off x="365760" y="47091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5 of 9</a:t>
            </a:r>
            <a:endParaRPr lang="en-US" sz="800" dirty="0"/>
          </a:p>
        </p:txBody>
      </p:sp>
      <p:pic>
        <p:nvPicPr>
          <p:cNvPr id="42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98130" y="4663440"/>
            <a:ext cx="377190" cy="274320"/>
          </a:xfrm>
          <a:prstGeom prst="rect">
            <a:avLst/>
          </a:prstGeom>
        </p:spPr>
      </p:pic>
      <p:sp>
        <p:nvSpPr>
          <p:cNvPr id="43" name="Text 37"/>
          <p:cNvSpPr/>
          <p:nvPr/>
        </p:nvSpPr>
        <p:spPr>
          <a:xfrm>
            <a:off x="6537960" y="470916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i="1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214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7C3AE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" y="91440"/>
            <a:ext cx="1691640" cy="237744"/>
          </a:xfrm>
          <a:prstGeom prst="roundRect">
            <a:avLst>
              <a:gd name="adj" fmla="val 38462"/>
            </a:avLst>
          </a:prstGeom>
          <a:solidFill>
            <a:srgbClr val="7C3AE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13232" y="91440"/>
            <a:ext cx="1691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TPRM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8275320" y="91440"/>
            <a:ext cx="457200" cy="237744"/>
          </a:xfrm>
          <a:prstGeom prst="roundRect">
            <a:avLst>
              <a:gd name="adj" fmla="val 38462"/>
            </a:avLst>
          </a:prstGeom>
          <a:solidFill>
            <a:srgbClr val="064E3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75320" y="91440"/>
            <a:ext cx="457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4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8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91440"/>
            <a:ext cx="237744" cy="237744"/>
          </a:xfrm>
          <a:prstGeom prst="rect">
            <a:avLst/>
          </a:prstGeom>
        </p:spPr>
      </p:pic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91440"/>
            <a:ext cx="1874520" cy="43891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11480" y="1234440"/>
            <a:ext cx="7132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4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register &amp; third-party risk (TPRM)</a:t>
            </a:r>
            <a:endParaRPr lang="en-US" sz="2200" dirty="0"/>
          </a:p>
        </p:txBody>
      </p:sp>
      <p:sp>
        <p:nvSpPr>
          <p:cNvPr id="10" name="Shape 6"/>
          <p:cNvSpPr/>
          <p:nvPr/>
        </p:nvSpPr>
        <p:spPr>
          <a:xfrm>
            <a:off x="411480" y="1801368"/>
            <a:ext cx="1005840" cy="45720"/>
          </a:xfrm>
          <a:prstGeom prst="rect">
            <a:avLst/>
          </a:prstGeom>
          <a:solidFill>
            <a:srgbClr val="7C3AE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411480" y="1892808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Living risk program and vendor portfolio monitoring in one view.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411480" y="2240280"/>
            <a:ext cx="3931920" cy="621792"/>
          </a:xfrm>
          <a:prstGeom prst="roundRect">
            <a:avLst>
              <a:gd name="adj" fmla="val 8824"/>
            </a:avLst>
          </a:prstGeom>
          <a:solidFill>
            <a:srgbClr val="12141C"/>
          </a:solidFill>
          <a:ln w="12700">
            <a:solidFill>
              <a:srgbClr val="064E3B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548640" y="2331720"/>
            <a:ext cx="822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0–950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1417320" y="2350008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4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vendor security rating scale</a:t>
            </a:r>
            <a:endParaRPr lang="en-US" sz="800" dirty="0"/>
          </a:p>
        </p:txBody>
      </p:sp>
      <p:sp>
        <p:nvSpPr>
          <p:cNvPr id="15" name="Shape 11"/>
          <p:cNvSpPr/>
          <p:nvPr/>
        </p:nvSpPr>
        <p:spPr>
          <a:xfrm>
            <a:off x="411480" y="2935224"/>
            <a:ext cx="3931920" cy="621792"/>
          </a:xfrm>
          <a:prstGeom prst="roundRect">
            <a:avLst>
              <a:gd name="adj" fmla="val 8824"/>
            </a:avLst>
          </a:prstGeom>
          <a:solidFill>
            <a:srgbClr val="12141C"/>
          </a:solidFill>
          <a:ln w="12700">
            <a:solidFill>
              <a:srgbClr val="064E3B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548640" y="3026664"/>
            <a:ext cx="822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</a:t>
            </a:r>
            <a:endParaRPr lang="en-US" sz="1800" dirty="0"/>
          </a:p>
        </p:txBody>
      </p:sp>
      <p:sp>
        <p:nvSpPr>
          <p:cNvPr id="17" name="Text 13"/>
          <p:cNvSpPr/>
          <p:nvPr/>
        </p:nvSpPr>
        <p:spPr>
          <a:xfrm>
            <a:off x="1417320" y="3044952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4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 - High - Medium - Low vendors</a:t>
            </a:r>
            <a:endParaRPr lang="en-US" sz="800" dirty="0"/>
          </a:p>
        </p:txBody>
      </p:sp>
      <p:sp>
        <p:nvSpPr>
          <p:cNvPr id="18" name="Shape 14"/>
          <p:cNvSpPr/>
          <p:nvPr/>
        </p:nvSpPr>
        <p:spPr>
          <a:xfrm>
            <a:off x="411480" y="3630168"/>
            <a:ext cx="3931920" cy="621792"/>
          </a:xfrm>
          <a:prstGeom prst="roundRect">
            <a:avLst>
              <a:gd name="adj" fmla="val 8824"/>
            </a:avLst>
          </a:prstGeom>
          <a:solidFill>
            <a:srgbClr val="12141C"/>
          </a:solidFill>
          <a:ln w="12700">
            <a:solidFill>
              <a:srgbClr val="064E3B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548640" y="3721608"/>
            <a:ext cx="822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Linked</a:t>
            </a:r>
            <a:endParaRPr lang="en-US" sz="1800" dirty="0"/>
          </a:p>
        </p:txBody>
      </p:sp>
      <p:sp>
        <p:nvSpPr>
          <p:cNvPr id="20" name="Text 16"/>
          <p:cNvSpPr/>
          <p:nvPr/>
        </p:nvSpPr>
        <p:spPr>
          <a:xfrm>
            <a:off x="1417320" y="3739896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4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risks mapped to mitigating controls</a:t>
            </a:r>
            <a:endParaRPr lang="en-US" sz="800" dirty="0"/>
          </a:p>
        </p:txBody>
      </p:sp>
      <p:sp>
        <p:nvSpPr>
          <p:cNvPr id="21" name="Text 17"/>
          <p:cNvSpPr/>
          <p:nvPr/>
        </p:nvSpPr>
        <p:spPr>
          <a:xfrm>
            <a:off x="411480" y="4370832"/>
            <a:ext cx="3931920" cy="182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F4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Inherent and residual risk scoring with executive roll-up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F4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Questionnaires, findings board, and remediation per vendor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F4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portfolio: Stripe, Okta, Cloudflare - live intelligence profiles</a:t>
            </a:r>
            <a:endParaRPr lang="en-US" sz="850" dirty="0"/>
          </a:p>
        </p:txBody>
      </p:sp>
      <p:sp>
        <p:nvSpPr>
          <p:cNvPr id="22" name="Shape 18"/>
          <p:cNvSpPr/>
          <p:nvPr/>
        </p:nvSpPr>
        <p:spPr>
          <a:xfrm>
            <a:off x="4663440" y="2011680"/>
            <a:ext cx="1463040" cy="1463040"/>
          </a:xfrm>
          <a:prstGeom prst="arc">
            <a:avLst>
              <a:gd name="adj1" fmla="val 10800000"/>
              <a:gd name="adj2" fmla="val 0"/>
            </a:avLst>
          </a:prstGeom>
          <a:solidFill>
            <a:srgbClr val="3F3F46"/>
          </a:solidFill>
          <a:ln w="50800">
            <a:solidFill>
              <a:srgbClr val="7C3AED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4892040" y="246888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742</a:t>
            </a:r>
            <a:endParaRPr lang="en-US" sz="1800" dirty="0"/>
          </a:p>
        </p:txBody>
      </p:sp>
      <p:sp>
        <p:nvSpPr>
          <p:cNvPr id="24" name="Text 20"/>
          <p:cNvSpPr/>
          <p:nvPr/>
        </p:nvSpPr>
        <p:spPr>
          <a:xfrm>
            <a:off x="4754880" y="2770632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Portfolio avg rating</a:t>
            </a:r>
            <a:endParaRPr lang="en-US" sz="700" dirty="0"/>
          </a:p>
        </p:txBody>
      </p:sp>
      <p:sp>
        <p:nvSpPr>
          <p:cNvPr id="25" name="Text 21"/>
          <p:cNvSpPr/>
          <p:nvPr/>
        </p:nvSpPr>
        <p:spPr>
          <a:xfrm>
            <a:off x="4892040" y="292608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</a:t>
            </a:r>
            <a:endParaRPr lang="en-US" sz="800" dirty="0"/>
          </a:p>
        </p:txBody>
      </p:sp>
      <p:sp>
        <p:nvSpPr>
          <p:cNvPr id="26" name="Text 22"/>
          <p:cNvSpPr/>
          <p:nvPr/>
        </p:nvSpPr>
        <p:spPr>
          <a:xfrm>
            <a:off x="6263640" y="1965960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Vendor assessment pipeline</a:t>
            </a:r>
            <a:endParaRPr lang="en-US" sz="800" dirty="0"/>
          </a:p>
        </p:txBody>
      </p:sp>
      <p:sp>
        <p:nvSpPr>
          <p:cNvPr id="27" name="Shape 23"/>
          <p:cNvSpPr/>
          <p:nvPr/>
        </p:nvSpPr>
        <p:spPr>
          <a:xfrm>
            <a:off x="6263640" y="2203704"/>
            <a:ext cx="2468880" cy="326898"/>
          </a:xfrm>
          <a:prstGeom prst="roundRect">
            <a:avLst>
              <a:gd name="adj" fmla="val 13986"/>
            </a:avLst>
          </a:prstGeom>
          <a:solidFill>
            <a:srgbClr val="059669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6263640" y="2203704"/>
            <a:ext cx="2468880" cy="3268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Inventory (120)</a:t>
            </a:r>
            <a:endParaRPr lang="en-US" sz="700" dirty="0"/>
          </a:p>
        </p:txBody>
      </p:sp>
      <p:sp>
        <p:nvSpPr>
          <p:cNvPr id="29" name="Shape 25"/>
          <p:cNvSpPr/>
          <p:nvPr/>
        </p:nvSpPr>
        <p:spPr>
          <a:xfrm>
            <a:off x="6572250" y="2606040"/>
            <a:ext cx="1851660" cy="326898"/>
          </a:xfrm>
          <a:prstGeom prst="roundRect">
            <a:avLst>
              <a:gd name="adj" fmla="val 13986"/>
            </a:avLst>
          </a:prstGeom>
          <a:solidFill>
            <a:srgbClr val="D1FAE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6572250" y="2606040"/>
            <a:ext cx="1851660" cy="3268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Questionnaire (85)</a:t>
            </a:r>
            <a:endParaRPr lang="en-US" sz="700" dirty="0"/>
          </a:p>
        </p:txBody>
      </p:sp>
      <p:sp>
        <p:nvSpPr>
          <p:cNvPr id="31" name="Shape 27"/>
          <p:cNvSpPr/>
          <p:nvPr/>
        </p:nvSpPr>
        <p:spPr>
          <a:xfrm>
            <a:off x="6819138" y="3008376"/>
            <a:ext cx="1357884" cy="326898"/>
          </a:xfrm>
          <a:prstGeom prst="roundRect">
            <a:avLst>
              <a:gd name="adj" fmla="val 13986"/>
            </a:avLst>
          </a:prstGeom>
          <a:solidFill>
            <a:srgbClr val="D1FAE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6819138" y="3008376"/>
            <a:ext cx="1357884" cy="3268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Rated (62)</a:t>
            </a:r>
            <a:endParaRPr lang="en-US" sz="700" dirty="0"/>
          </a:p>
        </p:txBody>
      </p:sp>
      <p:sp>
        <p:nvSpPr>
          <p:cNvPr id="33" name="Shape 29"/>
          <p:cNvSpPr/>
          <p:nvPr/>
        </p:nvSpPr>
        <p:spPr>
          <a:xfrm>
            <a:off x="7066026" y="3410712"/>
            <a:ext cx="864108" cy="326898"/>
          </a:xfrm>
          <a:prstGeom prst="roundRect">
            <a:avLst>
              <a:gd name="adj" fmla="val 13986"/>
            </a:avLst>
          </a:prstGeom>
          <a:solidFill>
            <a:srgbClr val="D1FAE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7066026" y="3410712"/>
            <a:ext cx="864108" cy="3268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Remediated (44)</a:t>
            </a:r>
            <a:endParaRPr lang="en-US" sz="700" dirty="0"/>
          </a:p>
        </p:txBody>
      </p:sp>
      <p:sp>
        <p:nvSpPr>
          <p:cNvPr id="35" name="Text 31"/>
          <p:cNvSpPr/>
          <p:nvPr/>
        </p:nvSpPr>
        <p:spPr>
          <a:xfrm>
            <a:off x="365760" y="47091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6 of 9</a:t>
            </a:r>
            <a:endParaRPr lang="en-US" sz="800" dirty="0"/>
          </a:p>
        </p:txBody>
      </p:sp>
      <p:pic>
        <p:nvPicPr>
          <p:cNvPr id="3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98130" y="4663440"/>
            <a:ext cx="377190" cy="274320"/>
          </a:xfrm>
          <a:prstGeom prst="rect">
            <a:avLst/>
          </a:prstGeom>
        </p:spPr>
      </p:pic>
      <p:sp>
        <p:nvSpPr>
          <p:cNvPr id="37" name="Text 32"/>
          <p:cNvSpPr/>
          <p:nvPr/>
        </p:nvSpPr>
        <p:spPr>
          <a:xfrm>
            <a:off x="6537960" y="470916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i="1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214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10B9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" y="91440"/>
            <a:ext cx="1691640" cy="237744"/>
          </a:xfrm>
          <a:prstGeom prst="roundRect">
            <a:avLst>
              <a:gd name="adj" fmla="val 38462"/>
            </a:avLst>
          </a:prstGeom>
          <a:solidFill>
            <a:srgbClr val="10B9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13232" y="91440"/>
            <a:ext cx="1691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Intelligence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8275320" y="91440"/>
            <a:ext cx="457200" cy="237744"/>
          </a:xfrm>
          <a:prstGeom prst="roundRect">
            <a:avLst>
              <a:gd name="adj" fmla="val 38462"/>
            </a:avLst>
          </a:prstGeom>
          <a:solidFill>
            <a:srgbClr val="064E3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75320" y="91440"/>
            <a:ext cx="457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4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8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91440"/>
            <a:ext cx="237744" cy="237744"/>
          </a:xfrm>
          <a:prstGeom prst="rect">
            <a:avLst/>
          </a:prstGeom>
        </p:spPr>
      </p:pic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91440"/>
            <a:ext cx="1874520" cy="43891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11480" y="1234440"/>
            <a:ext cx="7132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4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Integrations &amp; ComplAI Intelligence</a:t>
            </a:r>
            <a:endParaRPr lang="en-US" sz="2200" dirty="0"/>
          </a:p>
        </p:txBody>
      </p:sp>
      <p:sp>
        <p:nvSpPr>
          <p:cNvPr id="10" name="Shape 6"/>
          <p:cNvSpPr/>
          <p:nvPr/>
        </p:nvSpPr>
        <p:spPr>
          <a:xfrm>
            <a:off x="411480" y="1801368"/>
            <a:ext cx="1005840" cy="45720"/>
          </a:xfrm>
          <a:prstGeom prst="rect">
            <a:avLst/>
          </a:prstGeom>
          <a:solidFill>
            <a:srgbClr val="10B9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411480" y="1892808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 87 tools. Let AI close gaps before auditors do.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411480" y="2240280"/>
            <a:ext cx="2011680" cy="868680"/>
          </a:xfrm>
          <a:prstGeom prst="roundRect">
            <a:avLst>
              <a:gd name="adj" fmla="val 8421"/>
            </a:avLst>
          </a:prstGeom>
          <a:solidFill>
            <a:srgbClr val="12141C"/>
          </a:solidFill>
          <a:ln w="12700">
            <a:solidFill>
              <a:srgbClr val="064E3B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521208" y="23317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4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87 integrations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521208" y="2587752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Okta, Entra, Workday, Splunk, CrowdStrike, AWS, Azure…</a:t>
            </a:r>
            <a:endParaRPr lang="en-US" sz="750" dirty="0"/>
          </a:p>
        </p:txBody>
      </p:sp>
      <p:sp>
        <p:nvSpPr>
          <p:cNvPr id="15" name="Shape 11"/>
          <p:cNvSpPr/>
          <p:nvPr/>
        </p:nvSpPr>
        <p:spPr>
          <a:xfrm>
            <a:off x="2560320" y="2240280"/>
            <a:ext cx="2011680" cy="868680"/>
          </a:xfrm>
          <a:prstGeom prst="roundRect">
            <a:avLst>
              <a:gd name="adj" fmla="val 8421"/>
            </a:avLst>
          </a:prstGeom>
          <a:solidFill>
            <a:srgbClr val="12141C"/>
          </a:solidFill>
          <a:ln w="12700">
            <a:solidFill>
              <a:srgbClr val="064E3B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2670048" y="23317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4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Copilot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2670048" y="2587752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Compliance questions answered from your posture.</a:t>
            </a:r>
            <a:endParaRPr lang="en-US" sz="750" dirty="0"/>
          </a:p>
        </p:txBody>
      </p:sp>
      <p:sp>
        <p:nvSpPr>
          <p:cNvPr id="18" name="Shape 14"/>
          <p:cNvSpPr/>
          <p:nvPr/>
        </p:nvSpPr>
        <p:spPr>
          <a:xfrm>
            <a:off x="411480" y="3200400"/>
            <a:ext cx="2011680" cy="868680"/>
          </a:xfrm>
          <a:prstGeom prst="roundRect">
            <a:avLst>
              <a:gd name="adj" fmla="val 8421"/>
            </a:avLst>
          </a:prstGeom>
          <a:solidFill>
            <a:srgbClr val="12141C"/>
          </a:solidFill>
          <a:ln w="12700">
            <a:solidFill>
              <a:srgbClr val="064E3B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521208" y="32918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4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Gap analysis</a:t>
            </a:r>
            <a:endParaRPr lang="en-US" sz="900" dirty="0"/>
          </a:p>
        </p:txBody>
      </p:sp>
      <p:sp>
        <p:nvSpPr>
          <p:cNvPr id="20" name="Text 16"/>
          <p:cNvSpPr/>
          <p:nvPr/>
        </p:nvSpPr>
        <p:spPr>
          <a:xfrm>
            <a:off x="521208" y="3547872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Policy, evidence, and control gaps prioritized.</a:t>
            </a:r>
            <a:endParaRPr lang="en-US" sz="750" dirty="0"/>
          </a:p>
        </p:txBody>
      </p:sp>
      <p:sp>
        <p:nvSpPr>
          <p:cNvPr id="21" name="Shape 17"/>
          <p:cNvSpPr/>
          <p:nvPr/>
        </p:nvSpPr>
        <p:spPr>
          <a:xfrm>
            <a:off x="2560320" y="3200400"/>
            <a:ext cx="2011680" cy="868680"/>
          </a:xfrm>
          <a:prstGeom prst="roundRect">
            <a:avLst>
              <a:gd name="adj" fmla="val 8421"/>
            </a:avLst>
          </a:prstGeom>
          <a:solidFill>
            <a:srgbClr val="12141C"/>
          </a:solidFill>
          <a:ln w="12700">
            <a:solidFill>
              <a:srgbClr val="064E3B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2670048" y="32918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4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 evidence</a:t>
            </a:r>
            <a:endParaRPr lang="en-US" sz="900" dirty="0"/>
          </a:p>
        </p:txBody>
      </p:sp>
      <p:sp>
        <p:nvSpPr>
          <p:cNvPr id="23" name="Text 19"/>
          <p:cNvSpPr/>
          <p:nvPr/>
        </p:nvSpPr>
        <p:spPr>
          <a:xfrm>
            <a:off x="2670048" y="3547872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Control-level mapping reduces manual screenshots.</a:t>
            </a:r>
            <a:endParaRPr lang="en-US" sz="750" dirty="0"/>
          </a:p>
        </p:txBody>
      </p:sp>
      <p:sp>
        <p:nvSpPr>
          <p:cNvPr id="24" name="Shape 20"/>
          <p:cNvSpPr/>
          <p:nvPr/>
        </p:nvSpPr>
        <p:spPr>
          <a:xfrm>
            <a:off x="4608576" y="1965960"/>
            <a:ext cx="966978" cy="237744"/>
          </a:xfrm>
          <a:prstGeom prst="roundRect">
            <a:avLst>
              <a:gd name="adj" fmla="val 19231"/>
            </a:avLst>
          </a:prstGeom>
          <a:solidFill>
            <a:srgbClr val="10B9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4608576" y="1965960"/>
            <a:ext cx="96697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IAM</a:t>
            </a:r>
            <a:endParaRPr lang="en-US" sz="700" dirty="0"/>
          </a:p>
        </p:txBody>
      </p:sp>
      <p:sp>
        <p:nvSpPr>
          <p:cNvPr id="26" name="Shape 22"/>
          <p:cNvSpPr/>
          <p:nvPr/>
        </p:nvSpPr>
        <p:spPr>
          <a:xfrm>
            <a:off x="4626864" y="2276856"/>
            <a:ext cx="930402" cy="292608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 w="12700">
            <a:solidFill>
              <a:srgbClr val="3F3F46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4626864" y="2276856"/>
            <a:ext cx="93040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21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Okta</a:t>
            </a:r>
            <a:endParaRPr lang="en-US" sz="650" dirty="0"/>
          </a:p>
        </p:txBody>
      </p:sp>
      <p:sp>
        <p:nvSpPr>
          <p:cNvPr id="28" name="Shape 24"/>
          <p:cNvSpPr/>
          <p:nvPr/>
        </p:nvSpPr>
        <p:spPr>
          <a:xfrm>
            <a:off x="4626864" y="2624328"/>
            <a:ext cx="930402" cy="292608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 w="12700">
            <a:solidFill>
              <a:srgbClr val="3F3F46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4626864" y="2624328"/>
            <a:ext cx="93040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21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Entra</a:t>
            </a:r>
            <a:endParaRPr lang="en-US" sz="650" dirty="0"/>
          </a:p>
        </p:txBody>
      </p:sp>
      <p:sp>
        <p:nvSpPr>
          <p:cNvPr id="30" name="Shape 26"/>
          <p:cNvSpPr/>
          <p:nvPr/>
        </p:nvSpPr>
        <p:spPr>
          <a:xfrm>
            <a:off x="4626864" y="2971800"/>
            <a:ext cx="930402" cy="292608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 w="12700">
            <a:solidFill>
              <a:srgbClr val="3F3F46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4626864" y="2971800"/>
            <a:ext cx="93040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21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CyberArk</a:t>
            </a:r>
            <a:endParaRPr lang="en-US" sz="650" dirty="0"/>
          </a:p>
        </p:txBody>
      </p:sp>
      <p:sp>
        <p:nvSpPr>
          <p:cNvPr id="32" name="Shape 28"/>
          <p:cNvSpPr/>
          <p:nvPr/>
        </p:nvSpPr>
        <p:spPr>
          <a:xfrm>
            <a:off x="5648706" y="1965960"/>
            <a:ext cx="966978" cy="237744"/>
          </a:xfrm>
          <a:prstGeom prst="roundRect">
            <a:avLst>
              <a:gd name="adj" fmla="val 19231"/>
            </a:avLst>
          </a:prstGeom>
          <a:solidFill>
            <a:srgbClr val="7C3AE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5648706" y="1965960"/>
            <a:ext cx="96697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SIEM</a:t>
            </a:r>
            <a:endParaRPr lang="en-US" sz="700" dirty="0"/>
          </a:p>
        </p:txBody>
      </p:sp>
      <p:sp>
        <p:nvSpPr>
          <p:cNvPr id="34" name="Shape 30"/>
          <p:cNvSpPr/>
          <p:nvPr/>
        </p:nvSpPr>
        <p:spPr>
          <a:xfrm>
            <a:off x="5666994" y="2276856"/>
            <a:ext cx="930402" cy="292608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 w="12700">
            <a:solidFill>
              <a:srgbClr val="3F3F46"/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5666994" y="2276856"/>
            <a:ext cx="93040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21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Splunk</a:t>
            </a:r>
            <a:endParaRPr lang="en-US" sz="650" dirty="0"/>
          </a:p>
        </p:txBody>
      </p:sp>
      <p:sp>
        <p:nvSpPr>
          <p:cNvPr id="36" name="Shape 32"/>
          <p:cNvSpPr/>
          <p:nvPr/>
        </p:nvSpPr>
        <p:spPr>
          <a:xfrm>
            <a:off x="5666994" y="2624328"/>
            <a:ext cx="930402" cy="292608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 w="12700">
            <a:solidFill>
              <a:srgbClr val="3F3F46"/>
            </a:solidFill>
            <a:prstDash val="solid"/>
          </a:ln>
        </p:spPr>
      </p:sp>
      <p:sp>
        <p:nvSpPr>
          <p:cNvPr id="37" name="Text 33"/>
          <p:cNvSpPr/>
          <p:nvPr/>
        </p:nvSpPr>
        <p:spPr>
          <a:xfrm>
            <a:off x="5666994" y="2624328"/>
            <a:ext cx="93040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21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Chronicle</a:t>
            </a:r>
            <a:endParaRPr lang="en-US" sz="650" dirty="0"/>
          </a:p>
        </p:txBody>
      </p:sp>
      <p:sp>
        <p:nvSpPr>
          <p:cNvPr id="38" name="Shape 34"/>
          <p:cNvSpPr/>
          <p:nvPr/>
        </p:nvSpPr>
        <p:spPr>
          <a:xfrm>
            <a:off x="5666994" y="2971800"/>
            <a:ext cx="930402" cy="292608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 w="12700">
            <a:solidFill>
              <a:srgbClr val="3F3F46"/>
            </a:solidFill>
            <a:prstDash val="solid"/>
          </a:ln>
        </p:spPr>
      </p:sp>
      <p:sp>
        <p:nvSpPr>
          <p:cNvPr id="39" name="Text 35"/>
          <p:cNvSpPr/>
          <p:nvPr/>
        </p:nvSpPr>
        <p:spPr>
          <a:xfrm>
            <a:off x="5666994" y="2971800"/>
            <a:ext cx="93040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21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Sentinel</a:t>
            </a:r>
            <a:endParaRPr lang="en-US" sz="650" dirty="0"/>
          </a:p>
        </p:txBody>
      </p:sp>
      <p:sp>
        <p:nvSpPr>
          <p:cNvPr id="40" name="Shape 36"/>
          <p:cNvSpPr/>
          <p:nvPr/>
        </p:nvSpPr>
        <p:spPr>
          <a:xfrm>
            <a:off x="6688836" y="1965960"/>
            <a:ext cx="966978" cy="237744"/>
          </a:xfrm>
          <a:prstGeom prst="roundRect">
            <a:avLst>
              <a:gd name="adj" fmla="val 19231"/>
            </a:avLst>
          </a:prstGeom>
          <a:solidFill>
            <a:srgbClr val="05966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1" name="Text 37"/>
          <p:cNvSpPr/>
          <p:nvPr/>
        </p:nvSpPr>
        <p:spPr>
          <a:xfrm>
            <a:off x="6688836" y="1965960"/>
            <a:ext cx="96697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HRMS</a:t>
            </a:r>
            <a:endParaRPr lang="en-US" sz="700" dirty="0"/>
          </a:p>
        </p:txBody>
      </p:sp>
      <p:sp>
        <p:nvSpPr>
          <p:cNvPr id="42" name="Shape 38"/>
          <p:cNvSpPr/>
          <p:nvPr/>
        </p:nvSpPr>
        <p:spPr>
          <a:xfrm>
            <a:off x="6707124" y="2276856"/>
            <a:ext cx="930402" cy="292608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 w="12700">
            <a:solidFill>
              <a:srgbClr val="3F3F46"/>
            </a:solidFill>
            <a:prstDash val="solid"/>
          </a:ln>
        </p:spPr>
      </p:sp>
      <p:sp>
        <p:nvSpPr>
          <p:cNvPr id="43" name="Text 39"/>
          <p:cNvSpPr/>
          <p:nvPr/>
        </p:nvSpPr>
        <p:spPr>
          <a:xfrm>
            <a:off x="6707124" y="2276856"/>
            <a:ext cx="93040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21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Workday</a:t>
            </a:r>
            <a:endParaRPr lang="en-US" sz="650" dirty="0"/>
          </a:p>
        </p:txBody>
      </p:sp>
      <p:sp>
        <p:nvSpPr>
          <p:cNvPr id="44" name="Shape 40"/>
          <p:cNvSpPr/>
          <p:nvPr/>
        </p:nvSpPr>
        <p:spPr>
          <a:xfrm>
            <a:off x="6707124" y="2624328"/>
            <a:ext cx="930402" cy="292608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 w="12700">
            <a:solidFill>
              <a:srgbClr val="3F3F46"/>
            </a:solidFill>
            <a:prstDash val="solid"/>
          </a:ln>
        </p:spPr>
      </p:sp>
      <p:sp>
        <p:nvSpPr>
          <p:cNvPr id="45" name="Text 41"/>
          <p:cNvSpPr/>
          <p:nvPr/>
        </p:nvSpPr>
        <p:spPr>
          <a:xfrm>
            <a:off x="6707124" y="2624328"/>
            <a:ext cx="93040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21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SAP</a:t>
            </a:r>
            <a:endParaRPr lang="en-US" sz="650" dirty="0"/>
          </a:p>
        </p:txBody>
      </p:sp>
      <p:sp>
        <p:nvSpPr>
          <p:cNvPr id="46" name="Shape 42"/>
          <p:cNvSpPr/>
          <p:nvPr/>
        </p:nvSpPr>
        <p:spPr>
          <a:xfrm>
            <a:off x="6707124" y="2971800"/>
            <a:ext cx="930402" cy="292608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 w="12700">
            <a:solidFill>
              <a:srgbClr val="3F3F46"/>
            </a:solidFill>
            <a:prstDash val="solid"/>
          </a:ln>
        </p:spPr>
      </p:sp>
      <p:sp>
        <p:nvSpPr>
          <p:cNvPr id="47" name="Text 43"/>
          <p:cNvSpPr/>
          <p:nvPr/>
        </p:nvSpPr>
        <p:spPr>
          <a:xfrm>
            <a:off x="6707124" y="2971800"/>
            <a:ext cx="93040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21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BambooHR</a:t>
            </a:r>
            <a:endParaRPr lang="en-US" sz="650" dirty="0"/>
          </a:p>
        </p:txBody>
      </p:sp>
      <p:sp>
        <p:nvSpPr>
          <p:cNvPr id="48" name="Shape 44"/>
          <p:cNvSpPr/>
          <p:nvPr/>
        </p:nvSpPr>
        <p:spPr>
          <a:xfrm>
            <a:off x="7728966" y="1965960"/>
            <a:ext cx="966978" cy="237744"/>
          </a:xfrm>
          <a:prstGeom prst="roundRect">
            <a:avLst>
              <a:gd name="adj" fmla="val 19231"/>
            </a:avLst>
          </a:prstGeom>
          <a:solidFill>
            <a:srgbClr val="D9770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9" name="Text 45"/>
          <p:cNvSpPr/>
          <p:nvPr/>
        </p:nvSpPr>
        <p:spPr>
          <a:xfrm>
            <a:off x="7728966" y="1965960"/>
            <a:ext cx="96697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</a:t>
            </a:r>
            <a:endParaRPr lang="en-US" sz="700" dirty="0"/>
          </a:p>
        </p:txBody>
      </p:sp>
      <p:sp>
        <p:nvSpPr>
          <p:cNvPr id="50" name="Shape 46"/>
          <p:cNvSpPr/>
          <p:nvPr/>
        </p:nvSpPr>
        <p:spPr>
          <a:xfrm>
            <a:off x="7747254" y="2276856"/>
            <a:ext cx="930402" cy="292608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 w="12700">
            <a:solidFill>
              <a:srgbClr val="3F3F46"/>
            </a:solidFill>
            <a:prstDash val="solid"/>
          </a:ln>
        </p:spPr>
      </p:sp>
      <p:sp>
        <p:nvSpPr>
          <p:cNvPr id="51" name="Text 47"/>
          <p:cNvSpPr/>
          <p:nvPr/>
        </p:nvSpPr>
        <p:spPr>
          <a:xfrm>
            <a:off x="7747254" y="2276856"/>
            <a:ext cx="93040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21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</a:t>
            </a:r>
            <a:endParaRPr lang="en-US" sz="650" dirty="0"/>
          </a:p>
        </p:txBody>
      </p:sp>
      <p:sp>
        <p:nvSpPr>
          <p:cNvPr id="52" name="Shape 48"/>
          <p:cNvSpPr/>
          <p:nvPr/>
        </p:nvSpPr>
        <p:spPr>
          <a:xfrm>
            <a:off x="7747254" y="2624328"/>
            <a:ext cx="930402" cy="292608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 w="12700">
            <a:solidFill>
              <a:srgbClr val="3F3F46"/>
            </a:solidFill>
            <a:prstDash val="solid"/>
          </a:ln>
        </p:spPr>
      </p:sp>
      <p:sp>
        <p:nvSpPr>
          <p:cNvPr id="53" name="Text 49"/>
          <p:cNvSpPr/>
          <p:nvPr/>
        </p:nvSpPr>
        <p:spPr>
          <a:xfrm>
            <a:off x="7747254" y="2624328"/>
            <a:ext cx="93040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21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Azure</a:t>
            </a:r>
            <a:endParaRPr lang="en-US" sz="650" dirty="0"/>
          </a:p>
        </p:txBody>
      </p:sp>
      <p:sp>
        <p:nvSpPr>
          <p:cNvPr id="54" name="Shape 50"/>
          <p:cNvSpPr/>
          <p:nvPr/>
        </p:nvSpPr>
        <p:spPr>
          <a:xfrm>
            <a:off x="7747254" y="2971800"/>
            <a:ext cx="930402" cy="292608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 w="12700">
            <a:solidFill>
              <a:srgbClr val="3F3F46"/>
            </a:solidFill>
            <a:prstDash val="solid"/>
          </a:ln>
        </p:spPr>
      </p:sp>
      <p:sp>
        <p:nvSpPr>
          <p:cNvPr id="55" name="Text 51"/>
          <p:cNvSpPr/>
          <p:nvPr/>
        </p:nvSpPr>
        <p:spPr>
          <a:xfrm>
            <a:off x="7747254" y="2971800"/>
            <a:ext cx="93040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21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GCP</a:t>
            </a:r>
            <a:endParaRPr lang="en-US" sz="650" dirty="0"/>
          </a:p>
        </p:txBody>
      </p:sp>
      <p:sp>
        <p:nvSpPr>
          <p:cNvPr id="56" name="Shape 52"/>
          <p:cNvSpPr/>
          <p:nvPr/>
        </p:nvSpPr>
        <p:spPr>
          <a:xfrm>
            <a:off x="6195060" y="4133088"/>
            <a:ext cx="914400" cy="347472"/>
          </a:xfrm>
          <a:prstGeom prst="ellipse">
            <a:avLst/>
          </a:prstGeom>
          <a:solidFill>
            <a:srgbClr val="05966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7" name="Text 53"/>
          <p:cNvSpPr/>
          <p:nvPr/>
        </p:nvSpPr>
        <p:spPr>
          <a:xfrm>
            <a:off x="6231636" y="4178808"/>
            <a:ext cx="6583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</a:t>
            </a:r>
            <a:endParaRPr lang="en-US" sz="800" dirty="0"/>
          </a:p>
        </p:txBody>
      </p:sp>
      <p:sp>
        <p:nvSpPr>
          <p:cNvPr id="58" name="Text 54"/>
          <p:cNvSpPr/>
          <p:nvPr/>
        </p:nvSpPr>
        <p:spPr>
          <a:xfrm>
            <a:off x="6908292" y="4178808"/>
            <a:ext cx="2926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</a:t>
            </a:r>
            <a:endParaRPr lang="en-US" sz="800" dirty="0"/>
          </a:p>
        </p:txBody>
      </p:sp>
      <p:sp>
        <p:nvSpPr>
          <p:cNvPr id="59" name="Text 55"/>
          <p:cNvSpPr/>
          <p:nvPr/>
        </p:nvSpPr>
        <p:spPr>
          <a:xfrm>
            <a:off x="365760" y="47091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7 of 9</a:t>
            </a:r>
            <a:endParaRPr lang="en-US" sz="800" dirty="0"/>
          </a:p>
        </p:txBody>
      </p:sp>
      <p:pic>
        <p:nvPicPr>
          <p:cNvPr id="6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98130" y="4663440"/>
            <a:ext cx="377190" cy="274320"/>
          </a:xfrm>
          <a:prstGeom prst="rect">
            <a:avLst/>
          </a:prstGeom>
        </p:spPr>
      </p:pic>
      <p:sp>
        <p:nvSpPr>
          <p:cNvPr id="61" name="Text 56"/>
          <p:cNvSpPr/>
          <p:nvPr/>
        </p:nvSpPr>
        <p:spPr>
          <a:xfrm>
            <a:off x="6537960" y="470916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i="1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214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10B9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" y="91440"/>
            <a:ext cx="1691640" cy="237744"/>
          </a:xfrm>
          <a:prstGeom prst="roundRect">
            <a:avLst>
              <a:gd name="adj" fmla="val 38462"/>
            </a:avLst>
          </a:prstGeom>
          <a:solidFill>
            <a:srgbClr val="10B9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13232" y="91440"/>
            <a:ext cx="1691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Leadership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8275320" y="91440"/>
            <a:ext cx="457200" cy="237744"/>
          </a:xfrm>
          <a:prstGeom prst="roundRect">
            <a:avLst>
              <a:gd name="adj" fmla="val 38462"/>
            </a:avLst>
          </a:prstGeom>
          <a:solidFill>
            <a:srgbClr val="064E3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75320" y="91440"/>
            <a:ext cx="457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4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8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91440"/>
            <a:ext cx="237744" cy="237744"/>
          </a:xfrm>
          <a:prstGeom prst="rect">
            <a:avLst/>
          </a:prstGeom>
        </p:spPr>
      </p:pic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91440"/>
            <a:ext cx="1874520" cy="43891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11480" y="1234440"/>
            <a:ext cx="7132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4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Leadership visibility &amp; customer outcomes</a:t>
            </a:r>
            <a:endParaRPr lang="en-US" sz="2200" dirty="0"/>
          </a:p>
        </p:txBody>
      </p:sp>
      <p:sp>
        <p:nvSpPr>
          <p:cNvPr id="10" name="Shape 6"/>
          <p:cNvSpPr/>
          <p:nvPr/>
        </p:nvSpPr>
        <p:spPr>
          <a:xfrm>
            <a:off x="411480" y="1801368"/>
            <a:ext cx="1005840" cy="45720"/>
          </a:xfrm>
          <a:prstGeom prst="rect">
            <a:avLst/>
          </a:prstGeom>
          <a:solidFill>
            <a:srgbClr val="10B9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411480" y="1892808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 the board in minutes - with measurable ROI from day one.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411480" y="2240280"/>
            <a:ext cx="3931920" cy="621792"/>
          </a:xfrm>
          <a:prstGeom prst="roundRect">
            <a:avLst>
              <a:gd name="adj" fmla="val 8824"/>
            </a:avLst>
          </a:prstGeom>
          <a:solidFill>
            <a:srgbClr val="12141C"/>
          </a:solidFill>
          <a:ln w="12700">
            <a:solidFill>
              <a:srgbClr val="064E3B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548640" y="2331720"/>
            <a:ext cx="822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72%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1417320" y="2350008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4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sample readiness (demo org)</a:t>
            </a:r>
            <a:endParaRPr lang="en-US" sz="800" dirty="0"/>
          </a:p>
        </p:txBody>
      </p:sp>
      <p:sp>
        <p:nvSpPr>
          <p:cNvPr id="15" name="Shape 11"/>
          <p:cNvSpPr/>
          <p:nvPr/>
        </p:nvSpPr>
        <p:spPr>
          <a:xfrm>
            <a:off x="411480" y="2935224"/>
            <a:ext cx="3931920" cy="621792"/>
          </a:xfrm>
          <a:prstGeom prst="roundRect">
            <a:avLst>
              <a:gd name="adj" fmla="val 8824"/>
            </a:avLst>
          </a:prstGeom>
          <a:solidFill>
            <a:srgbClr val="12141C"/>
          </a:solidFill>
          <a:ln w="12700">
            <a:solidFill>
              <a:srgbClr val="064E3B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548640" y="3026664"/>
            <a:ext cx="822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80%</a:t>
            </a:r>
            <a:endParaRPr lang="en-US" sz="1800" dirty="0"/>
          </a:p>
        </p:txBody>
      </p:sp>
      <p:sp>
        <p:nvSpPr>
          <p:cNvPr id="17" name="Text 13"/>
          <p:cNvSpPr/>
          <p:nvPr/>
        </p:nvSpPr>
        <p:spPr>
          <a:xfrm>
            <a:off x="1417320" y="3044952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4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faster audit prep (typical)</a:t>
            </a:r>
            <a:endParaRPr lang="en-US" sz="800" dirty="0"/>
          </a:p>
        </p:txBody>
      </p:sp>
      <p:sp>
        <p:nvSpPr>
          <p:cNvPr id="18" name="Shape 14"/>
          <p:cNvSpPr/>
          <p:nvPr/>
        </p:nvSpPr>
        <p:spPr>
          <a:xfrm>
            <a:off x="411480" y="3630168"/>
            <a:ext cx="3931920" cy="621792"/>
          </a:xfrm>
          <a:prstGeom prst="roundRect">
            <a:avLst>
              <a:gd name="adj" fmla="val 8824"/>
            </a:avLst>
          </a:prstGeom>
          <a:solidFill>
            <a:srgbClr val="12141C"/>
          </a:solidFill>
          <a:ln w="12700">
            <a:solidFill>
              <a:srgbClr val="064E3B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548640" y="3721608"/>
            <a:ext cx="822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5→1</a:t>
            </a:r>
            <a:endParaRPr lang="en-US" sz="1800" dirty="0"/>
          </a:p>
        </p:txBody>
      </p:sp>
      <p:sp>
        <p:nvSpPr>
          <p:cNvPr id="20" name="Text 16"/>
          <p:cNvSpPr/>
          <p:nvPr/>
        </p:nvSpPr>
        <p:spPr>
          <a:xfrm>
            <a:off x="1417320" y="3739896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4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 consolidated into one platform</a:t>
            </a:r>
            <a:endParaRPr lang="en-US" sz="800" dirty="0"/>
          </a:p>
        </p:txBody>
      </p:sp>
      <p:sp>
        <p:nvSpPr>
          <p:cNvPr id="21" name="Text 17"/>
          <p:cNvSpPr/>
          <p:nvPr/>
        </p:nvSpPr>
        <p:spPr>
          <a:xfrm>
            <a:off x="411480" y="4370832"/>
            <a:ext cx="3931920" cy="182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F4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 overview: compliance, TPRM, audits, policies, cloud monitoring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F4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Path-to-green actions deduplicated across frameworks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F4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40+ hours saved per audit cycle on evidence reconciliation</a:t>
            </a:r>
            <a:endParaRPr lang="en-US" sz="850" dirty="0"/>
          </a:p>
        </p:txBody>
      </p:sp>
      <p:sp>
        <p:nvSpPr>
          <p:cNvPr id="22" name="Shape 18"/>
          <p:cNvSpPr/>
          <p:nvPr/>
        </p:nvSpPr>
        <p:spPr>
          <a:xfrm>
            <a:off x="4572000" y="1965960"/>
            <a:ext cx="2011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3F3F46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4645152" y="2020824"/>
            <a:ext cx="186537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Readiness</a:t>
            </a:r>
            <a:endParaRPr lang="en-US" sz="700" dirty="0"/>
          </a:p>
        </p:txBody>
      </p:sp>
      <p:sp>
        <p:nvSpPr>
          <p:cNvPr id="24" name="Text 20"/>
          <p:cNvSpPr/>
          <p:nvPr/>
        </p:nvSpPr>
        <p:spPr>
          <a:xfrm>
            <a:off x="4645152" y="2185416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72%</a:t>
            </a:r>
            <a:endParaRPr lang="en-US" sz="1600" dirty="0"/>
          </a:p>
        </p:txBody>
      </p:sp>
      <p:sp>
        <p:nvSpPr>
          <p:cNvPr id="25" name="Text 21"/>
          <p:cNvSpPr/>
          <p:nvPr/>
        </p:nvSpPr>
        <p:spPr>
          <a:xfrm>
            <a:off x="6327648" y="2221992"/>
            <a:ext cx="182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200" dirty="0"/>
          </a:p>
        </p:txBody>
      </p:sp>
      <p:sp>
        <p:nvSpPr>
          <p:cNvPr id="26" name="Shape 22"/>
          <p:cNvSpPr/>
          <p:nvPr/>
        </p:nvSpPr>
        <p:spPr>
          <a:xfrm>
            <a:off x="6675120" y="1965960"/>
            <a:ext cx="2011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3F3F46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6748272" y="2020824"/>
            <a:ext cx="186537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risks</a:t>
            </a:r>
            <a:endParaRPr lang="en-US" sz="700" dirty="0"/>
          </a:p>
        </p:txBody>
      </p:sp>
      <p:sp>
        <p:nvSpPr>
          <p:cNvPr id="28" name="Text 24"/>
          <p:cNvSpPr/>
          <p:nvPr/>
        </p:nvSpPr>
        <p:spPr>
          <a:xfrm>
            <a:off x="6748272" y="2185416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600" dirty="0"/>
          </a:p>
        </p:txBody>
      </p:sp>
      <p:sp>
        <p:nvSpPr>
          <p:cNvPr id="29" name="Text 25"/>
          <p:cNvSpPr/>
          <p:nvPr/>
        </p:nvSpPr>
        <p:spPr>
          <a:xfrm>
            <a:off x="8430768" y="2221992"/>
            <a:ext cx="182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200" dirty="0"/>
          </a:p>
        </p:txBody>
      </p:sp>
      <p:sp>
        <p:nvSpPr>
          <p:cNvPr id="30" name="Shape 26"/>
          <p:cNvSpPr/>
          <p:nvPr/>
        </p:nvSpPr>
        <p:spPr>
          <a:xfrm>
            <a:off x="4572000" y="2624328"/>
            <a:ext cx="2011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3F3F46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4645152" y="2679192"/>
            <a:ext cx="186537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Controls green</a:t>
            </a:r>
            <a:endParaRPr lang="en-US" sz="700" dirty="0"/>
          </a:p>
        </p:txBody>
      </p:sp>
      <p:sp>
        <p:nvSpPr>
          <p:cNvPr id="32" name="Text 28"/>
          <p:cNvSpPr/>
          <p:nvPr/>
        </p:nvSpPr>
        <p:spPr>
          <a:xfrm>
            <a:off x="4645152" y="2843784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186</a:t>
            </a:r>
            <a:endParaRPr lang="en-US" sz="1600" dirty="0"/>
          </a:p>
        </p:txBody>
      </p:sp>
      <p:sp>
        <p:nvSpPr>
          <p:cNvPr id="33" name="Text 29"/>
          <p:cNvSpPr/>
          <p:nvPr/>
        </p:nvSpPr>
        <p:spPr>
          <a:xfrm>
            <a:off x="6327648" y="2880360"/>
            <a:ext cx="182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200" dirty="0"/>
          </a:p>
        </p:txBody>
      </p:sp>
      <p:sp>
        <p:nvSpPr>
          <p:cNvPr id="34" name="Shape 30"/>
          <p:cNvSpPr/>
          <p:nvPr/>
        </p:nvSpPr>
        <p:spPr>
          <a:xfrm>
            <a:off x="6675120" y="2624328"/>
            <a:ext cx="2011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3F3F46"/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6748272" y="2679192"/>
            <a:ext cx="186537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Vendor avg</a:t>
            </a:r>
            <a:endParaRPr lang="en-US" sz="700" dirty="0"/>
          </a:p>
        </p:txBody>
      </p:sp>
      <p:sp>
        <p:nvSpPr>
          <p:cNvPr id="36" name="Text 32"/>
          <p:cNvSpPr/>
          <p:nvPr/>
        </p:nvSpPr>
        <p:spPr>
          <a:xfrm>
            <a:off x="6748272" y="2843784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742</a:t>
            </a:r>
            <a:endParaRPr lang="en-US" sz="1600" dirty="0"/>
          </a:p>
        </p:txBody>
      </p:sp>
      <p:sp>
        <p:nvSpPr>
          <p:cNvPr id="37" name="Text 33"/>
          <p:cNvSpPr/>
          <p:nvPr/>
        </p:nvSpPr>
        <p:spPr>
          <a:xfrm>
            <a:off x="8430768" y="2880360"/>
            <a:ext cx="182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200" dirty="0"/>
          </a:p>
        </p:txBody>
      </p:sp>
      <p:sp>
        <p:nvSpPr>
          <p:cNvPr id="38" name="Text 34"/>
          <p:cNvSpPr/>
          <p:nvPr/>
        </p:nvSpPr>
        <p:spPr>
          <a:xfrm>
            <a:off x="4572000" y="3200400"/>
            <a:ext cx="594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3F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</a:t>
            </a:r>
            <a:endParaRPr lang="en-US" sz="650" dirty="0"/>
          </a:p>
        </p:txBody>
      </p:sp>
      <p:sp>
        <p:nvSpPr>
          <p:cNvPr id="39" name="Shape 35"/>
          <p:cNvSpPr/>
          <p:nvPr/>
        </p:nvSpPr>
        <p:spPr>
          <a:xfrm>
            <a:off x="5212080" y="3227832"/>
            <a:ext cx="3200400" cy="128016"/>
          </a:xfrm>
          <a:prstGeom prst="roundRect">
            <a:avLst>
              <a:gd name="adj" fmla="val 21429"/>
            </a:avLst>
          </a:prstGeom>
          <a:solidFill>
            <a:srgbClr val="3F3F4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0" name="Shape 36"/>
          <p:cNvSpPr/>
          <p:nvPr/>
        </p:nvSpPr>
        <p:spPr>
          <a:xfrm>
            <a:off x="5212080" y="3227832"/>
            <a:ext cx="2816352" cy="128016"/>
          </a:xfrm>
          <a:prstGeom prst="roundRect">
            <a:avLst>
              <a:gd name="adj" fmla="val 21429"/>
            </a:avLst>
          </a:prstGeom>
          <a:solidFill>
            <a:srgbClr val="05966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1" name="Text 37"/>
          <p:cNvSpPr/>
          <p:nvPr/>
        </p:nvSpPr>
        <p:spPr>
          <a:xfrm>
            <a:off x="8439912" y="3200400"/>
            <a:ext cx="2560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5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88%</a:t>
            </a:r>
            <a:endParaRPr lang="en-US" sz="650" dirty="0"/>
          </a:p>
        </p:txBody>
      </p:sp>
      <p:sp>
        <p:nvSpPr>
          <p:cNvPr id="42" name="Text 38"/>
          <p:cNvSpPr/>
          <p:nvPr/>
        </p:nvSpPr>
        <p:spPr>
          <a:xfrm>
            <a:off x="4572000" y="3474720"/>
            <a:ext cx="594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3F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</a:t>
            </a:r>
            <a:endParaRPr lang="en-US" sz="650" dirty="0"/>
          </a:p>
        </p:txBody>
      </p:sp>
      <p:sp>
        <p:nvSpPr>
          <p:cNvPr id="43" name="Shape 39"/>
          <p:cNvSpPr/>
          <p:nvPr/>
        </p:nvSpPr>
        <p:spPr>
          <a:xfrm>
            <a:off x="5212080" y="3502152"/>
            <a:ext cx="3200400" cy="128016"/>
          </a:xfrm>
          <a:prstGeom prst="roundRect">
            <a:avLst>
              <a:gd name="adj" fmla="val 21429"/>
            </a:avLst>
          </a:prstGeom>
          <a:solidFill>
            <a:srgbClr val="3F3F4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4" name="Shape 40"/>
          <p:cNvSpPr/>
          <p:nvPr/>
        </p:nvSpPr>
        <p:spPr>
          <a:xfrm>
            <a:off x="5212080" y="3502152"/>
            <a:ext cx="2272284" cy="128016"/>
          </a:xfrm>
          <a:prstGeom prst="roundRect">
            <a:avLst>
              <a:gd name="adj" fmla="val 21429"/>
            </a:avLst>
          </a:prstGeom>
          <a:solidFill>
            <a:srgbClr val="D9770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5" name="Text 41"/>
          <p:cNvSpPr/>
          <p:nvPr/>
        </p:nvSpPr>
        <p:spPr>
          <a:xfrm>
            <a:off x="8439912" y="3474720"/>
            <a:ext cx="2560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5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71%</a:t>
            </a:r>
            <a:endParaRPr lang="en-US" sz="650" dirty="0"/>
          </a:p>
        </p:txBody>
      </p:sp>
      <p:sp>
        <p:nvSpPr>
          <p:cNvPr id="46" name="Text 42"/>
          <p:cNvSpPr/>
          <p:nvPr/>
        </p:nvSpPr>
        <p:spPr>
          <a:xfrm>
            <a:off x="4572000" y="3749040"/>
            <a:ext cx="594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3F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Vendor</a:t>
            </a:r>
            <a:endParaRPr lang="en-US" sz="650" dirty="0"/>
          </a:p>
        </p:txBody>
      </p:sp>
      <p:sp>
        <p:nvSpPr>
          <p:cNvPr id="47" name="Shape 43"/>
          <p:cNvSpPr/>
          <p:nvPr/>
        </p:nvSpPr>
        <p:spPr>
          <a:xfrm>
            <a:off x="5212080" y="3776472"/>
            <a:ext cx="3200400" cy="128016"/>
          </a:xfrm>
          <a:prstGeom prst="roundRect">
            <a:avLst>
              <a:gd name="adj" fmla="val 21429"/>
            </a:avLst>
          </a:prstGeom>
          <a:solidFill>
            <a:srgbClr val="3F3F4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8" name="Shape 44"/>
          <p:cNvSpPr/>
          <p:nvPr/>
        </p:nvSpPr>
        <p:spPr>
          <a:xfrm>
            <a:off x="5212080" y="3776472"/>
            <a:ext cx="2528316" cy="128016"/>
          </a:xfrm>
          <a:prstGeom prst="roundRect">
            <a:avLst>
              <a:gd name="adj" fmla="val 21429"/>
            </a:avLst>
          </a:prstGeom>
          <a:solidFill>
            <a:srgbClr val="05966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9" name="Text 45"/>
          <p:cNvSpPr/>
          <p:nvPr/>
        </p:nvSpPr>
        <p:spPr>
          <a:xfrm>
            <a:off x="8439912" y="3749040"/>
            <a:ext cx="2560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5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79%</a:t>
            </a:r>
            <a:endParaRPr lang="en-US" sz="650" dirty="0"/>
          </a:p>
        </p:txBody>
      </p:sp>
      <p:sp>
        <p:nvSpPr>
          <p:cNvPr id="50" name="Text 46"/>
          <p:cNvSpPr/>
          <p:nvPr/>
        </p:nvSpPr>
        <p:spPr>
          <a:xfrm>
            <a:off x="4572000" y="4023360"/>
            <a:ext cx="594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3F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Ops</a:t>
            </a:r>
            <a:endParaRPr lang="en-US" sz="650" dirty="0"/>
          </a:p>
        </p:txBody>
      </p:sp>
      <p:sp>
        <p:nvSpPr>
          <p:cNvPr id="51" name="Shape 47"/>
          <p:cNvSpPr/>
          <p:nvPr/>
        </p:nvSpPr>
        <p:spPr>
          <a:xfrm>
            <a:off x="5212080" y="4050792"/>
            <a:ext cx="3200400" cy="128016"/>
          </a:xfrm>
          <a:prstGeom prst="roundRect">
            <a:avLst>
              <a:gd name="adj" fmla="val 21429"/>
            </a:avLst>
          </a:prstGeom>
          <a:solidFill>
            <a:srgbClr val="3F3F4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2" name="Shape 48"/>
          <p:cNvSpPr/>
          <p:nvPr/>
        </p:nvSpPr>
        <p:spPr>
          <a:xfrm>
            <a:off x="5212080" y="4050792"/>
            <a:ext cx="2080260" cy="128016"/>
          </a:xfrm>
          <a:prstGeom prst="roundRect">
            <a:avLst>
              <a:gd name="adj" fmla="val 21429"/>
            </a:avLst>
          </a:prstGeom>
          <a:solidFill>
            <a:srgbClr val="D9770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3" name="Text 49"/>
          <p:cNvSpPr/>
          <p:nvPr/>
        </p:nvSpPr>
        <p:spPr>
          <a:xfrm>
            <a:off x="8439912" y="4023360"/>
            <a:ext cx="2560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5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65%</a:t>
            </a:r>
            <a:endParaRPr lang="en-US" sz="650" dirty="0"/>
          </a:p>
        </p:txBody>
      </p:sp>
      <p:sp>
        <p:nvSpPr>
          <p:cNvPr id="54" name="Shape 50"/>
          <p:cNvSpPr/>
          <p:nvPr/>
        </p:nvSpPr>
        <p:spPr>
          <a:xfrm>
            <a:off x="4590288" y="4429125"/>
            <a:ext cx="557784" cy="371475"/>
          </a:xfrm>
          <a:prstGeom prst="roundRect">
            <a:avLst>
              <a:gd name="adj" fmla="val 7385"/>
            </a:avLst>
          </a:prstGeom>
          <a:solidFill>
            <a:srgbClr val="10B9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5" name="Shape 51"/>
          <p:cNvSpPr/>
          <p:nvPr/>
        </p:nvSpPr>
        <p:spPr>
          <a:xfrm>
            <a:off x="5184648" y="4389120"/>
            <a:ext cx="557784" cy="411480"/>
          </a:xfrm>
          <a:prstGeom prst="roundRect">
            <a:avLst>
              <a:gd name="adj" fmla="val 6667"/>
            </a:avLst>
          </a:prstGeom>
          <a:solidFill>
            <a:srgbClr val="10B9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6" name="Shape 52"/>
          <p:cNvSpPr/>
          <p:nvPr/>
        </p:nvSpPr>
        <p:spPr>
          <a:xfrm>
            <a:off x="5779008" y="4411980"/>
            <a:ext cx="557784" cy="388620"/>
          </a:xfrm>
          <a:prstGeom prst="roundRect">
            <a:avLst>
              <a:gd name="adj" fmla="val 7059"/>
            </a:avLst>
          </a:prstGeom>
          <a:solidFill>
            <a:srgbClr val="10B9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7" name="Shape 53"/>
          <p:cNvSpPr/>
          <p:nvPr/>
        </p:nvSpPr>
        <p:spPr>
          <a:xfrm>
            <a:off x="6373368" y="4354830"/>
            <a:ext cx="557784" cy="445770"/>
          </a:xfrm>
          <a:prstGeom prst="roundRect">
            <a:avLst>
              <a:gd name="adj" fmla="val 6154"/>
            </a:avLst>
          </a:prstGeom>
          <a:solidFill>
            <a:srgbClr val="10B9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8" name="Shape 54"/>
          <p:cNvSpPr/>
          <p:nvPr/>
        </p:nvSpPr>
        <p:spPr>
          <a:xfrm>
            <a:off x="6967728" y="4331970"/>
            <a:ext cx="557784" cy="468630"/>
          </a:xfrm>
          <a:prstGeom prst="roundRect">
            <a:avLst>
              <a:gd name="adj" fmla="val 5854"/>
            </a:avLst>
          </a:prstGeom>
          <a:solidFill>
            <a:srgbClr val="10B9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9" name="Shape 55"/>
          <p:cNvSpPr/>
          <p:nvPr/>
        </p:nvSpPr>
        <p:spPr>
          <a:xfrm>
            <a:off x="7562088" y="4371975"/>
            <a:ext cx="557784" cy="428625"/>
          </a:xfrm>
          <a:prstGeom prst="roundRect">
            <a:avLst>
              <a:gd name="adj" fmla="val 6400"/>
            </a:avLst>
          </a:prstGeom>
          <a:solidFill>
            <a:srgbClr val="10B9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0" name="Shape 56"/>
          <p:cNvSpPr/>
          <p:nvPr/>
        </p:nvSpPr>
        <p:spPr>
          <a:xfrm>
            <a:off x="8156448" y="4297680"/>
            <a:ext cx="557784" cy="502920"/>
          </a:xfrm>
          <a:prstGeom prst="roundRect">
            <a:avLst>
              <a:gd name="adj" fmla="val 5455"/>
            </a:avLst>
          </a:prstGeom>
          <a:solidFill>
            <a:srgbClr val="10B9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1" name="Text 57"/>
          <p:cNvSpPr/>
          <p:nvPr/>
        </p:nvSpPr>
        <p:spPr>
          <a:xfrm>
            <a:off x="4572000" y="4133088"/>
            <a:ext cx="41605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Trend</a:t>
            </a:r>
            <a:endParaRPr lang="en-US" sz="650" dirty="0"/>
          </a:p>
        </p:txBody>
      </p:sp>
      <p:sp>
        <p:nvSpPr>
          <p:cNvPr id="62" name="Text 58"/>
          <p:cNvSpPr/>
          <p:nvPr/>
        </p:nvSpPr>
        <p:spPr>
          <a:xfrm>
            <a:off x="365760" y="47091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8 of 9</a:t>
            </a:r>
            <a:endParaRPr lang="en-US" sz="800" dirty="0"/>
          </a:p>
        </p:txBody>
      </p:sp>
      <p:pic>
        <p:nvPicPr>
          <p:cNvPr id="6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98130" y="4663440"/>
            <a:ext cx="377190" cy="274320"/>
          </a:xfrm>
          <a:prstGeom prst="rect">
            <a:avLst/>
          </a:prstGeom>
        </p:spPr>
      </p:pic>
      <p:sp>
        <p:nvSpPr>
          <p:cNvPr id="64" name="Text 59"/>
          <p:cNvSpPr/>
          <p:nvPr/>
        </p:nvSpPr>
        <p:spPr>
          <a:xfrm>
            <a:off x="6537960" y="470916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i="1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29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5966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" y="91440"/>
            <a:ext cx="1691640" cy="237744"/>
          </a:xfrm>
          <a:prstGeom prst="roundRect">
            <a:avLst>
              <a:gd name="adj" fmla="val 38462"/>
            </a:avLst>
          </a:prstGeom>
          <a:solidFill>
            <a:srgbClr val="05966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13232" y="91440"/>
            <a:ext cx="1691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Steps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8275320" y="91440"/>
            <a:ext cx="457200" cy="237744"/>
          </a:xfrm>
          <a:prstGeom prst="roundRect">
            <a:avLst>
              <a:gd name="adj" fmla="val 38462"/>
            </a:avLst>
          </a:prstGeom>
          <a:solidFill>
            <a:srgbClr val="064E3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75320" y="91440"/>
            <a:ext cx="457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4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8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91440"/>
            <a:ext cx="237744" cy="237744"/>
          </a:xfrm>
          <a:prstGeom prst="rect">
            <a:avLst/>
          </a:prstGeom>
        </p:spPr>
      </p:pic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91440"/>
            <a:ext cx="1874520" cy="438912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0" y="411480"/>
            <a:ext cx="9144000" cy="4251960"/>
          </a:xfrm>
          <a:prstGeom prst="rect">
            <a:avLst/>
          </a:prstGeom>
          <a:solidFill>
            <a:srgbClr val="0F292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411480" y="1234440"/>
            <a:ext cx="7132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4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 - walk into every audit with confidence</a:t>
            </a:r>
            <a:endParaRPr lang="en-US" sz="2200" dirty="0"/>
          </a:p>
        </p:txBody>
      </p:sp>
      <p:sp>
        <p:nvSpPr>
          <p:cNvPr id="11" name="Shape 7"/>
          <p:cNvSpPr/>
          <p:nvPr/>
        </p:nvSpPr>
        <p:spPr>
          <a:xfrm>
            <a:off x="411480" y="1801368"/>
            <a:ext cx="1005840" cy="45720"/>
          </a:xfrm>
          <a:prstGeom prst="rect">
            <a:avLst/>
          </a:prstGeom>
          <a:solidFill>
            <a:srgbClr val="05966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411480" y="1892808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risk. Prove control. Scale your GRC program.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411480" y="2148840"/>
            <a:ext cx="2011680" cy="274320"/>
          </a:xfrm>
          <a:prstGeom prst="roundRect">
            <a:avLst>
              <a:gd name="adj" fmla="val 13333"/>
            </a:avLst>
          </a:prstGeom>
          <a:solidFill>
            <a:srgbClr val="12141C"/>
          </a:solidFill>
          <a:ln w="12700">
            <a:solidFill>
              <a:srgbClr val="064E3B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475488" y="2185416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4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Spreadsheets &amp; shared drives</a:t>
            </a:r>
            <a:endParaRPr lang="en-US" sz="700" dirty="0"/>
          </a:p>
        </p:txBody>
      </p:sp>
      <p:sp>
        <p:nvSpPr>
          <p:cNvPr id="15" name="Shape 11"/>
          <p:cNvSpPr/>
          <p:nvPr/>
        </p:nvSpPr>
        <p:spPr>
          <a:xfrm>
            <a:off x="2468880" y="2203704"/>
            <a:ext cx="137160" cy="137160"/>
          </a:xfrm>
          <a:prstGeom prst="rightArrow">
            <a:avLst/>
          </a:prstGeom>
          <a:solidFill>
            <a:srgbClr val="10B9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2697480" y="2148840"/>
            <a:ext cx="2148840" cy="274320"/>
          </a:xfrm>
          <a:prstGeom prst="roundRect">
            <a:avLst>
              <a:gd name="adj" fmla="val 13333"/>
            </a:avLst>
          </a:prstGeom>
          <a:solidFill>
            <a:srgbClr val="064E3B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2761488" y="2185416"/>
            <a:ext cx="2011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Centralized evidence per control</a:t>
            </a:r>
            <a:endParaRPr lang="en-US" sz="700" dirty="0"/>
          </a:p>
        </p:txBody>
      </p:sp>
      <p:sp>
        <p:nvSpPr>
          <p:cNvPr id="18" name="Shape 14"/>
          <p:cNvSpPr/>
          <p:nvPr/>
        </p:nvSpPr>
        <p:spPr>
          <a:xfrm>
            <a:off x="411480" y="2459736"/>
            <a:ext cx="2011680" cy="274320"/>
          </a:xfrm>
          <a:prstGeom prst="roundRect">
            <a:avLst>
              <a:gd name="adj" fmla="val 13333"/>
            </a:avLst>
          </a:prstGeom>
          <a:solidFill>
            <a:srgbClr val="12141C"/>
          </a:solidFill>
          <a:ln w="12700">
            <a:solidFill>
              <a:srgbClr val="064E3B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475488" y="2496312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4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Duplicate controls per framework</a:t>
            </a:r>
            <a:endParaRPr lang="en-US" sz="700" dirty="0"/>
          </a:p>
        </p:txBody>
      </p:sp>
      <p:sp>
        <p:nvSpPr>
          <p:cNvPr id="20" name="Shape 16"/>
          <p:cNvSpPr/>
          <p:nvPr/>
        </p:nvSpPr>
        <p:spPr>
          <a:xfrm>
            <a:off x="2468880" y="2514600"/>
            <a:ext cx="137160" cy="137160"/>
          </a:xfrm>
          <a:prstGeom prst="rightArrow">
            <a:avLst/>
          </a:prstGeom>
          <a:solidFill>
            <a:srgbClr val="10B9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2697480" y="2459736"/>
            <a:ext cx="2148840" cy="274320"/>
          </a:xfrm>
          <a:prstGeom prst="roundRect">
            <a:avLst>
              <a:gd name="adj" fmla="val 13333"/>
            </a:avLst>
          </a:prstGeom>
          <a:solidFill>
            <a:srgbClr val="064E3B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2761488" y="2496312"/>
            <a:ext cx="2011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Unified control mapping</a:t>
            </a:r>
            <a:endParaRPr lang="en-US" sz="700" dirty="0"/>
          </a:p>
        </p:txBody>
      </p:sp>
      <p:sp>
        <p:nvSpPr>
          <p:cNvPr id="23" name="Shape 19"/>
          <p:cNvSpPr/>
          <p:nvPr/>
        </p:nvSpPr>
        <p:spPr>
          <a:xfrm>
            <a:off x="411480" y="2770632"/>
            <a:ext cx="2011680" cy="274320"/>
          </a:xfrm>
          <a:prstGeom prst="roundRect">
            <a:avLst>
              <a:gd name="adj" fmla="val 13333"/>
            </a:avLst>
          </a:prstGeom>
          <a:solidFill>
            <a:srgbClr val="12141C"/>
          </a:solidFill>
          <a:ln w="12700">
            <a:solidFill>
              <a:srgbClr val="064E3B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475488" y="280720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4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Vendor risk in separate tools</a:t>
            </a:r>
            <a:endParaRPr lang="en-US" sz="700" dirty="0"/>
          </a:p>
        </p:txBody>
      </p:sp>
      <p:sp>
        <p:nvSpPr>
          <p:cNvPr id="25" name="Shape 21"/>
          <p:cNvSpPr/>
          <p:nvPr/>
        </p:nvSpPr>
        <p:spPr>
          <a:xfrm>
            <a:off x="2468880" y="2825496"/>
            <a:ext cx="137160" cy="137160"/>
          </a:xfrm>
          <a:prstGeom prst="rightArrow">
            <a:avLst/>
          </a:prstGeom>
          <a:solidFill>
            <a:srgbClr val="10B9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2697480" y="2770632"/>
            <a:ext cx="2148840" cy="274320"/>
          </a:xfrm>
          <a:prstGeom prst="roundRect">
            <a:avLst>
              <a:gd name="adj" fmla="val 13333"/>
            </a:avLst>
          </a:prstGeom>
          <a:solidFill>
            <a:srgbClr val="064E3B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2761488" y="2807208"/>
            <a:ext cx="2011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TPRM integrated with controls</a:t>
            </a:r>
            <a:endParaRPr lang="en-US" sz="700" dirty="0"/>
          </a:p>
        </p:txBody>
      </p:sp>
      <p:sp>
        <p:nvSpPr>
          <p:cNvPr id="28" name="Text 24"/>
          <p:cNvSpPr/>
          <p:nvPr/>
        </p:nvSpPr>
        <p:spPr>
          <a:xfrm>
            <a:off x="411480" y="3191256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steps</a:t>
            </a:r>
            <a:endParaRPr lang="en-US" sz="1000" dirty="0"/>
          </a:p>
        </p:txBody>
      </p:sp>
      <p:sp>
        <p:nvSpPr>
          <p:cNvPr id="29" name="Shape 25"/>
          <p:cNvSpPr/>
          <p:nvPr/>
        </p:nvSpPr>
        <p:spPr>
          <a:xfrm>
            <a:off x="411480" y="3483864"/>
            <a:ext cx="201168" cy="20116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411480" y="3483864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00" dirty="0"/>
          </a:p>
        </p:txBody>
      </p:sp>
      <p:sp>
        <p:nvSpPr>
          <p:cNvPr id="31" name="Text 27"/>
          <p:cNvSpPr/>
          <p:nvPr/>
        </p:nvSpPr>
        <p:spPr>
          <a:xfrm>
            <a:off x="685800" y="3465576"/>
            <a:ext cx="4297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F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Schedule a 30-minute live demo with your team</a:t>
            </a:r>
            <a:endParaRPr lang="en-US" sz="800" dirty="0"/>
          </a:p>
        </p:txBody>
      </p:sp>
      <p:sp>
        <p:nvSpPr>
          <p:cNvPr id="32" name="Shape 28"/>
          <p:cNvSpPr/>
          <p:nvPr/>
        </p:nvSpPr>
        <p:spPr>
          <a:xfrm>
            <a:off x="411480" y="3867912"/>
            <a:ext cx="201168" cy="20116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411480" y="3867912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00" dirty="0"/>
          </a:p>
        </p:txBody>
      </p:sp>
      <p:sp>
        <p:nvSpPr>
          <p:cNvPr id="34" name="Text 30"/>
          <p:cNvSpPr/>
          <p:nvPr/>
        </p:nvSpPr>
        <p:spPr>
          <a:xfrm>
            <a:off x="685800" y="3849624"/>
            <a:ext cx="4297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F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 a tailored framework assessment</a:t>
            </a:r>
            <a:endParaRPr lang="en-US" sz="800" dirty="0"/>
          </a:p>
        </p:txBody>
      </p:sp>
      <p:sp>
        <p:nvSpPr>
          <p:cNvPr id="35" name="Shape 31"/>
          <p:cNvSpPr/>
          <p:nvPr/>
        </p:nvSpPr>
        <p:spPr>
          <a:xfrm>
            <a:off x="411480" y="4251960"/>
            <a:ext cx="201168" cy="20116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Text 32"/>
          <p:cNvSpPr/>
          <p:nvPr/>
        </p:nvSpPr>
        <p:spPr>
          <a:xfrm>
            <a:off x="411480" y="4251960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00" dirty="0"/>
          </a:p>
        </p:txBody>
      </p:sp>
      <p:sp>
        <p:nvSpPr>
          <p:cNvPr id="37" name="Text 33"/>
          <p:cNvSpPr/>
          <p:nvPr/>
        </p:nvSpPr>
        <p:spPr>
          <a:xfrm>
            <a:off x="685800" y="4233672"/>
            <a:ext cx="4297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F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a pilot with Propel Ready onboarding</a:t>
            </a:r>
            <a:endParaRPr lang="en-US" sz="800" dirty="0"/>
          </a:p>
        </p:txBody>
      </p:sp>
      <p:sp>
        <p:nvSpPr>
          <p:cNvPr id="38" name="Text 34"/>
          <p:cNvSpPr/>
          <p:nvPr/>
        </p:nvSpPr>
        <p:spPr>
          <a:xfrm>
            <a:off x="411480" y="370332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4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demo walkthrough</a:t>
            </a:r>
            <a:endParaRPr lang="en-US" sz="900" dirty="0"/>
          </a:p>
        </p:txBody>
      </p:sp>
      <p:sp>
        <p:nvSpPr>
          <p:cNvPr id="39" name="Text 35"/>
          <p:cNvSpPr/>
          <p:nvPr/>
        </p:nvSpPr>
        <p:spPr>
          <a:xfrm>
            <a:off x="411480" y="3931920"/>
            <a:ext cx="45720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75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Leadership dashboard - RAG posture and program overview</a:t>
            </a:r>
            <a:endParaRPr lang="en-US" sz="750" dirty="0"/>
          </a:p>
          <a:p>
            <a:pPr marL="342900" indent="-342900">
              <a:buSzPct val="100000"/>
              <a:buChar char="•"/>
            </a:pPr>
            <a:r>
              <a:rPr lang="en-US" sz="75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Controls &amp; policies - evidence and approvals</a:t>
            </a:r>
            <a:endParaRPr lang="en-US" sz="750" dirty="0"/>
          </a:p>
          <a:p>
            <a:pPr marL="342900" indent="-342900">
              <a:buSzPct val="100000"/>
              <a:buChar char="•"/>
            </a:pPr>
            <a:r>
              <a:rPr lang="en-US" sz="75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TPRM - vendor ratings and questionnaires</a:t>
            </a:r>
            <a:endParaRPr lang="en-US" sz="750" dirty="0"/>
          </a:p>
          <a:p>
            <a:pPr marL="342900" indent="-342900">
              <a:buSzPct val="100000"/>
              <a:buChar char="•"/>
            </a:pPr>
            <a:r>
              <a:rPr lang="en-US" sz="75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Intelligence - gap analysis and AI copilot</a:t>
            </a:r>
            <a:endParaRPr lang="en-US" sz="750" dirty="0"/>
          </a:p>
        </p:txBody>
      </p:sp>
      <p:sp>
        <p:nvSpPr>
          <p:cNvPr id="40" name="Shape 36"/>
          <p:cNvSpPr/>
          <p:nvPr/>
        </p:nvSpPr>
        <p:spPr>
          <a:xfrm>
            <a:off x="5029200" y="1965960"/>
            <a:ext cx="3703320" cy="2606040"/>
          </a:xfrm>
          <a:prstGeom prst="roundRect">
            <a:avLst>
              <a:gd name="adj" fmla="val 4211"/>
            </a:avLst>
          </a:prstGeom>
          <a:solidFill>
            <a:srgbClr val="05966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1" name="Text 37"/>
          <p:cNvSpPr/>
          <p:nvPr/>
        </p:nvSpPr>
        <p:spPr>
          <a:xfrm>
            <a:off x="5212080" y="2286000"/>
            <a:ext cx="3337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2200" dirty="0"/>
          </a:p>
        </p:txBody>
      </p:sp>
      <p:sp>
        <p:nvSpPr>
          <p:cNvPr id="42" name="Text 38"/>
          <p:cNvSpPr/>
          <p:nvPr/>
        </p:nvSpPr>
        <p:spPr>
          <a:xfrm>
            <a:off x="5212080" y="2834640"/>
            <a:ext cx="3337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1FA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Questions? Let’s connect.</a:t>
            </a:r>
            <a:endParaRPr lang="en-US" sz="1100" dirty="0"/>
          </a:p>
        </p:txBody>
      </p:sp>
      <p:sp>
        <p:nvSpPr>
          <p:cNvPr id="43" name="Text 39"/>
          <p:cNvSpPr/>
          <p:nvPr/>
        </p:nvSpPr>
        <p:spPr>
          <a:xfrm>
            <a:off x="5212080" y="3291840"/>
            <a:ext cx="3337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tech@propelreadysolutions.in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+91-8796941115</a:t>
            </a:r>
            <a:endParaRPr lang="en-US" sz="1000" dirty="0"/>
          </a:p>
        </p:txBody>
      </p:sp>
      <p:sp>
        <p:nvSpPr>
          <p:cNvPr id="44" name="Text 40"/>
          <p:cNvSpPr/>
          <p:nvPr/>
        </p:nvSpPr>
        <p:spPr>
          <a:xfrm>
            <a:off x="365760" y="47091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9 of 9</a:t>
            </a:r>
            <a:endParaRPr lang="en-US" sz="800" dirty="0"/>
          </a:p>
        </p:txBody>
      </p:sp>
      <p:pic>
        <p:nvPicPr>
          <p:cNvPr id="4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98130" y="4663440"/>
            <a:ext cx="377190" cy="274320"/>
          </a:xfrm>
          <a:prstGeom prst="rect">
            <a:avLst/>
          </a:prstGeom>
        </p:spPr>
      </p:pic>
      <p:sp>
        <p:nvSpPr>
          <p:cNvPr id="46" name="Text 41"/>
          <p:cNvSpPr/>
          <p:nvPr/>
        </p:nvSpPr>
        <p:spPr>
          <a:xfrm>
            <a:off x="6537960" y="470916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i="1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ComplAI — GRC Compliance Platform</dc:title>
  <dc:subject>Customer Demo Deck</dc:subject>
  <dc:creator>Propel Ready Solutions</dc:creator>
  <cp:lastModifiedBy>Propel Ready Solutions</cp:lastModifiedBy>
  <cp:revision>1</cp:revision>
  <dcterms:created xsi:type="dcterms:W3CDTF">2026-07-02T11:45:15Z</dcterms:created>
  <dcterms:modified xsi:type="dcterms:W3CDTF">2026-07-02T11:45:15Z</dcterms:modified>
</cp:coreProperties>
</file>